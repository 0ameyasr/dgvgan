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67" r:id="rId4"/>
    <p:sldId id="258" r:id="rId5"/>
    <p:sldId id="282" r:id="rId6"/>
    <p:sldId id="280" r:id="rId7"/>
    <p:sldId id="266" r:id="rId8"/>
    <p:sldId id="284" r:id="rId9"/>
    <p:sldId id="276" r:id="rId10"/>
    <p:sldId id="259" r:id="rId11"/>
    <p:sldId id="260" r:id="rId12"/>
    <p:sldId id="283" r:id="rId13"/>
    <p:sldId id="261" r:id="rId14"/>
    <p:sldId id="273" r:id="rId15"/>
    <p:sldId id="268" r:id="rId16"/>
    <p:sldId id="262" r:id="rId17"/>
    <p:sldId id="269" r:id="rId18"/>
    <p:sldId id="278" r:id="rId19"/>
    <p:sldId id="274" r:id="rId20"/>
    <p:sldId id="275" r:id="rId21"/>
    <p:sldId id="279" r:id="rId22"/>
    <p:sldId id="264" r:id="rId23"/>
    <p:sldId id="265" r:id="rId24"/>
    <p:sldId id="277" r:id="rId25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1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18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6337-C0FA-0B8F-ED2D-77B5C66A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5168C-5DF5-C21F-E5D6-8E67F527F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FE1FA-B49C-1093-687D-28C3F8CAF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2761B-00D5-5546-72DF-465CC47A1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51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881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237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4520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290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635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173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5703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668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4152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4011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455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12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975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786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809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059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894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177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6024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31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38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80" r:id="rId19"/>
    <p:sldLayoutId id="2147483681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4.emf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emf"/><Relationship Id="rId11" Type="http://schemas.openxmlformats.org/officeDocument/2006/relationships/image" Target="../media/image17.png"/><Relationship Id="rId5" Type="http://schemas.openxmlformats.org/officeDocument/2006/relationships/image" Target="../media/image110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2" y="1096103"/>
            <a:ext cx="75564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DGvGAN: Dynamic Malware Analysis</a:t>
            </a:r>
            <a:endParaRPr lang="en-US" sz="44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2" y="3101110"/>
            <a:ext cx="75564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Comparing </a:t>
            </a:r>
            <a:r>
              <a:rPr lang="en-US" sz="24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Deep Graph Convolutional Neural Networks</a:t>
            </a:r>
            <a:r>
              <a:rPr lang="en-US" sz="2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and </a:t>
            </a:r>
            <a:r>
              <a:rPr lang="en-US" sz="24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Generative Adversarial Networks</a:t>
            </a:r>
            <a:r>
              <a:rPr lang="en-US" sz="2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for modern malware detection through </a:t>
            </a:r>
            <a:r>
              <a:rPr lang="en-US" sz="24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behavioural analysis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88" y="5464032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Team</a:t>
            </a:r>
            <a:r>
              <a:rPr lang="en-US" sz="200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:</a:t>
            </a: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Ameya Srivastava (U22CS102), 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Auritra Dey (U22CS127), 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Bittu Kumar (U22CS130), 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Pavitra Kumar (U22CS121)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200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I.D.:</a:t>
            </a: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Team #1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89" y="4724769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Supervisor</a:t>
            </a:r>
            <a:r>
              <a:rPr lang="en-US" sz="200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:</a:t>
            </a:r>
            <a:r>
              <a:rPr lang="en-US" sz="20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(Prof.) Dr. Devesh C. Jinwala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0" name="Picture 2" descr="Overlay of Canny and Neural Network (NN) Predictions with 30,000... |  Download Scientific Diagram">
            <a:extLst>
              <a:ext uri="{FF2B5EF4-FFF2-40B4-BE49-F238E27FC236}">
                <a16:creationId xmlns:a16="http://schemas.microsoft.com/office/drawing/2014/main" id="{9F26131E-9A7C-0D08-B49C-5439554D4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444" y="0"/>
            <a:ext cx="5429956" cy="82296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83CD7-4D07-F71F-7890-7487746C3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663" y="5396006"/>
            <a:ext cx="1987664" cy="1904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58797"/>
            <a:ext cx="6110883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Introduction – 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IN" sz="4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Detecting Modern Malware</a:t>
            </a:r>
            <a:endParaRPr lang="en-US" sz="4400" b="1" dirty="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582585"/>
            <a:ext cx="3670459" cy="2356485"/>
          </a:xfrm>
          <a:prstGeom prst="roundRect">
            <a:avLst>
              <a:gd name="adj" fmla="val 3841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8434" y="2820829"/>
            <a:ext cx="26935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1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Traditional Static Analysis</a:t>
            </a:r>
            <a:endParaRPr lang="en-US" sz="2100" b="1" dirty="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18434" y="3300055"/>
            <a:ext cx="3193971" cy="1400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Converting </a:t>
            </a:r>
            <a:r>
              <a:rPr lang="en-US" sz="165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binaries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to </a:t>
            </a:r>
            <a:r>
              <a:rPr lang="en-US" sz="165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grayscale images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for classification is computationally expensive and </a:t>
            </a:r>
            <a:r>
              <a:rPr lang="en-US" sz="165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loses crucial runtime behaviour information.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6033" y="2582585"/>
            <a:ext cx="3670578" cy="2356485"/>
          </a:xfrm>
          <a:prstGeom prst="roundRect">
            <a:avLst>
              <a:gd name="adj" fmla="val 3841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4277" y="2820829"/>
            <a:ext cx="283952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IN" sz="21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Modern Threats</a:t>
            </a:r>
            <a:endParaRPr lang="en-US" sz="2100" b="1" dirty="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04277" y="3300055"/>
            <a:ext cx="3194090" cy="112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5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Polymorphic malware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uses obfuscation techniques that change code signatures, making traditional static detection methods unreliable.</a:t>
            </a:r>
            <a:endParaRPr lang="en-US" sz="1650"/>
          </a:p>
          <a:p>
            <a:pPr marL="0" indent="0" algn="l">
              <a:lnSpc>
                <a:spcPts val="2200"/>
              </a:lnSpc>
              <a:buNone/>
            </a:pPr>
            <a:endParaRPr lang="en-US" sz="1650" b="1" dirty="0"/>
          </a:p>
        </p:txBody>
      </p:sp>
      <p:sp>
        <p:nvSpPr>
          <p:cNvPr id="10" name="Shape 7"/>
          <p:cNvSpPr/>
          <p:nvPr/>
        </p:nvSpPr>
        <p:spPr>
          <a:xfrm>
            <a:off x="6280190" y="5154454"/>
            <a:ext cx="7556421" cy="1516023"/>
          </a:xfrm>
          <a:prstGeom prst="roundRect">
            <a:avLst>
              <a:gd name="adj" fmla="val 5970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8434" y="5392698"/>
            <a:ext cx="26935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IN" sz="21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Modern Approach: </a:t>
            </a:r>
            <a:r>
              <a:rPr lang="en-IN" sz="2100" b="1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Dynamic Analysis</a:t>
            </a:r>
            <a:endParaRPr lang="en-US" sz="2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18434" y="5871924"/>
            <a:ext cx="707993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Analysing API call sequences captures actual program behaviour, providing resilience 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against many modern evasion </a:t>
            </a: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tactics.</a:t>
            </a:r>
            <a:endParaRPr lang="en-US" sz="1650" dirty="0"/>
          </a:p>
        </p:txBody>
      </p:sp>
      <p:sp>
        <p:nvSpPr>
          <p:cNvPr id="13" name="AutoShape 2" descr="Image of ">
            <a:extLst>
              <a:ext uri="{FF2B5EF4-FFF2-40B4-BE49-F238E27FC236}">
                <a16:creationId xmlns:a16="http://schemas.microsoft.com/office/drawing/2014/main" id="{28B2906D-05AD-4367-2BC1-90D8096E0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7BB79-E9A2-7D0E-5284-CFBE86BCA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" y="0"/>
            <a:ext cx="600342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BFC26-F745-EF4A-709B-32A5B2A42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Existing Methods – Traditional Static Analysis</a:t>
            </a:r>
            <a:b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</a:br>
            <a:r>
              <a:rPr lang="en-IN" sz="4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Image Translation &amp; CNN-based Classification</a:t>
            </a:r>
            <a:endParaRPr lang="en-US" sz="4400" b="1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E706-FE6D-5022-D181-E03E586AC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Training: 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Convert malware executable binaries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(.exe)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into grayscale images after preprocessing, label each as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benign (0)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or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malware (1)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. Train a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CNN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for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supervised image-based binary classification.</a:t>
            </a:r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Deployment: 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An executable is uploaded, preprocessed and fit into a large CNN for classification.</a:t>
            </a: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32C19CBF-AA3F-F236-F659-7DC3073809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946483-FC26-FAFB-910A-3B76E83F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799" y="4367960"/>
            <a:ext cx="8430802" cy="294363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D1027C-EC64-834A-AC0C-40457EA75D34}"/>
              </a:ext>
            </a:extLst>
          </p:cNvPr>
          <p:cNvCxnSpPr/>
          <p:nvPr/>
        </p:nvCxnSpPr>
        <p:spPr>
          <a:xfrm>
            <a:off x="5323840" y="5323840"/>
            <a:ext cx="37490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861904-8DF0-E502-7DB5-473B016E9DEA}"/>
              </a:ext>
            </a:extLst>
          </p:cNvPr>
          <p:cNvSpPr txBox="1"/>
          <p:nvPr/>
        </p:nvSpPr>
        <p:spPr>
          <a:xfrm>
            <a:off x="5709920" y="4954508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Preprocessing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7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560" y="663413"/>
            <a:ext cx="6947178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Why </a:t>
            </a:r>
            <a:r>
              <a:rPr lang="en-US" sz="44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Static Analysis Fails</a:t>
            </a:r>
            <a:endParaRPr lang="en-US" sz="44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8" y="1752957"/>
            <a:ext cx="340162" cy="442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7854" y="1789867"/>
            <a:ext cx="346757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High Computational Cost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97854" y="2294454"/>
            <a:ext cx="56424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Reading and preprocessing large binaries into images introduces </a:t>
            </a:r>
            <a:r>
              <a:rPr lang="en-US" sz="1750" dirty="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significant latency 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in deployment.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843" y="1752957"/>
            <a:ext cx="340162" cy="442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60948" y="178986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Information Loss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041898" y="2294454"/>
            <a:ext cx="56426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Flattening code into pixels </a:t>
            </a:r>
            <a:r>
              <a:rPr lang="en-US" sz="1750" dirty="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discards key runtime </a:t>
            </a:r>
            <a:r>
              <a:rPr lang="en-US" sz="175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behaviours</a:t>
            </a:r>
            <a:r>
              <a:rPr lang="en-US" sz="17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</a:t>
            </a:r>
            <a:r>
              <a:rPr lang="en-US" sz="175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(almost ~99%)</a:t>
            </a:r>
            <a:r>
              <a:rPr lang="en-US" sz="17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and 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control-flow relationships.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8" y="3300770"/>
            <a:ext cx="340162" cy="4421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97854" y="3337679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Fragile Detection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397854" y="3842266"/>
            <a:ext cx="56424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Minor binary changes drastically alter images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, making detection unreliable </a:t>
            </a:r>
            <a:r>
              <a:rPr lang="en-US" sz="17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against modern, evasive 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threats.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843" y="3300770"/>
            <a:ext cx="340162" cy="4421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60948" y="3337679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Memory Intensive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060948" y="3842266"/>
            <a:ext cx="56426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Large CNNs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and intermediate images </a:t>
            </a:r>
            <a:r>
              <a:rPr lang="en-US" sz="1750" dirty="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increase processing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</a:t>
            </a:r>
            <a:r>
              <a:rPr lang="en-US" sz="175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requirements</a:t>
            </a:r>
            <a:r>
              <a:rPr lang="en-US" sz="17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, making the methods 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impractical for enterprise use.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8126E0-6185-E3A6-974C-7B6D3277085A}"/>
                  </a:ext>
                </a:extLst>
              </p:cNvPr>
              <p:cNvSpPr txBox="1"/>
              <p:nvPr/>
            </p:nvSpPr>
            <p:spPr>
              <a:xfrm>
                <a:off x="745748" y="4973806"/>
                <a:ext cx="13107412" cy="2788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>
                    <a:solidFill>
                      <a:srgbClr val="FF0000"/>
                    </a:solidFill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Issues: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Commonly downsampling binaries </a:t>
                </a:r>
                <a:r>
                  <a:rPr lang="en-IN" sz="24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(e.g. 10MB)</a:t>
                </a:r>
                <a:r>
                  <a:rPr lang="en-IN" sz="24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to small images (e.g. </a:t>
                </a:r>
                <a:r>
                  <a:rPr lang="en-IN" sz="24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256 x 256</a:t>
                </a:r>
                <a:r>
                  <a:rPr lang="en-IN" sz="24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) discards </a:t>
                </a:r>
                <a:r>
                  <a:rPr lang="en-IN" sz="24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~99% of data bytes*,</a:t>
                </a:r>
                <a:r>
                  <a:rPr lang="en-IN" sz="24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losing critical low-level malware cues.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Using full-resolution images is impractical for large-scale inference due to high memory &amp; compute demands.</a:t>
                </a:r>
              </a:p>
              <a:p>
                <a:endParaRPr lang="en-IN" sz="2400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  <a:p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*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10 </m:t>
                    </m:r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MB</m:t>
                    </m:r>
                    <m:r>
                      <a:rPr lang="en-IN" sz="2000" b="0" i="0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=10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×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</m:ctrlPr>
                      </m:sSupPr>
                      <m:e>
                        <m:r>
                          <a:rPr lang="en-IN" sz="2000" b="0" i="0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2</m:t>
                        </m:r>
                      </m:e>
                      <m:sup>
                        <m:r>
                          <a:rPr lang="en-IN" sz="2000" b="0" i="0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256×256=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2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𝐿𝑜𝑠𝑠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  <m:t>10×2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  <m:t>20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  <m:t>16</m:t>
                            </m:r>
                          </m:sup>
                        </m:sSup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10×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Geist" panose="020B0604020202020204" charset="0"/>
                                <a:cs typeface="Geist" panose="020B0604020202020204" charset="0"/>
                              </a:rPr>
                              <m:t>20</m:t>
                            </m:r>
                          </m:sup>
                        </m:sSup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159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Geist" panose="020B0604020202020204" charset="0"/>
                            <a:cs typeface="Geist" panose="020B0604020202020204" charset="0"/>
                          </a:rPr>
                          <m:t>160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≡99.375%</m:t>
                    </m:r>
                  </m:oMath>
                </a14:m>
                <a:endParaRPr lang="en-US" sz="2000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8126E0-6185-E3A6-974C-7B6D32770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48" y="4973806"/>
                <a:ext cx="13107412" cy="2788712"/>
              </a:xfrm>
              <a:prstGeom prst="rect">
                <a:avLst/>
              </a:prstGeom>
              <a:blipFill>
                <a:blip r:embed="rId4"/>
                <a:stretch>
                  <a:fillRect l="-697" t="-1532" b="-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4D6230-6CCD-946B-4AA0-3C633E95F6D9}"/>
              </a:ext>
            </a:extLst>
          </p:cNvPr>
          <p:cNvCxnSpPr>
            <a:cxnSpLocks/>
          </p:cNvCxnSpPr>
          <p:nvPr/>
        </p:nvCxnSpPr>
        <p:spPr>
          <a:xfrm>
            <a:off x="764560" y="7187878"/>
            <a:ext cx="12696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56DC-75CD-F1D3-3D25-BD1AADAB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7618-0565-E27F-1EBD-3BAF72F4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Existing Methods – Dynamic Analysis</a:t>
            </a:r>
            <a:b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</a:br>
            <a:r>
              <a:rPr lang="en-IN" sz="4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Deep Learning Models</a:t>
            </a:r>
            <a:endParaRPr lang="en-US" sz="4400" b="1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5136-051D-0112-41B1-0A4D87AE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Sequence models</a:t>
            </a:r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like </a:t>
            </a:r>
            <a:r>
              <a:rPr lang="en-IN" sz="32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RNNs</a:t>
            </a:r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and </a:t>
            </a:r>
            <a:r>
              <a:rPr lang="en-IN" sz="32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LSTMs</a:t>
            </a:r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are widely used to model temporal sequence API calls for dynamic malware analysis</a:t>
            </a:r>
          </a:p>
          <a:p>
            <a:r>
              <a:rPr lang="en-IN" sz="32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Graph models</a:t>
            </a:r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like</a:t>
            </a:r>
            <a:r>
              <a:rPr lang="en-IN" sz="32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DGCNNs</a:t>
            </a:r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(Oliveira &amp; Sassi 2019) show superior performance to sequence models </a:t>
            </a:r>
            <a:endParaRPr lang="en-IN" sz="3200" b="1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32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32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BUT…</a:t>
            </a:r>
          </a:p>
          <a:p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GAN’s, that are </a:t>
            </a:r>
            <a:r>
              <a:rPr lang="en-IN" sz="32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generative models</a:t>
            </a:r>
            <a:r>
              <a:rPr lang="en-IN" sz="32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, are understudied for this task – this provides a good research opportunity</a:t>
            </a:r>
          </a:p>
          <a:p>
            <a:pPr marL="0" indent="0">
              <a:buNone/>
            </a:pPr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17D14387-1845-434D-477D-03F2C8E03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4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3C76-ACBE-6ACB-3D1A-28578902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3BD9CCA-E069-B7C3-0A5A-21D8F5D3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Motivation</a:t>
            </a:r>
            <a:br>
              <a:rPr lang="en-US" sz="5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5A34A0C-DC66-827D-D00B-846A0C19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938610"/>
            <a:ext cx="12618720" cy="4778713"/>
          </a:xfrm>
        </p:spPr>
        <p:txBody>
          <a:bodyPr>
            <a:normAutofit/>
          </a:bodyPr>
          <a:lstStyle/>
          <a:p>
            <a:r>
              <a:rPr lang="en-IN" sz="4400"/>
              <a:t>Static analysis techniques </a:t>
            </a:r>
            <a:r>
              <a:rPr lang="en-IN" sz="4400" b="1">
                <a:solidFill>
                  <a:srgbClr val="FF0000"/>
                </a:solidFill>
              </a:rPr>
              <a:t>are outdated</a:t>
            </a:r>
            <a:r>
              <a:rPr lang="en-IN" sz="4400"/>
              <a:t> for modern malware attack vectors</a:t>
            </a:r>
          </a:p>
          <a:p>
            <a:r>
              <a:rPr lang="en-IN" sz="4400"/>
              <a:t>Of all deep learning models, generative architectures like </a:t>
            </a:r>
            <a:r>
              <a:rPr lang="en-IN" sz="4400" b="1">
                <a:solidFill>
                  <a:srgbClr val="FF0000"/>
                </a:solidFill>
              </a:rPr>
              <a:t>GANs are understudied</a:t>
            </a:r>
            <a:r>
              <a:rPr lang="en-IN" sz="4400">
                <a:solidFill>
                  <a:srgbClr val="FF0000"/>
                </a:solidFill>
              </a:rPr>
              <a:t> </a:t>
            </a:r>
            <a:r>
              <a:rPr lang="en-IN" sz="4400"/>
              <a:t>for malware detection</a:t>
            </a:r>
          </a:p>
          <a:p>
            <a:r>
              <a:rPr lang="en-IN" sz="4400"/>
              <a:t>Graph models </a:t>
            </a:r>
            <a:r>
              <a:rPr lang="en-IN" sz="4400" b="1">
                <a:solidFill>
                  <a:srgbClr val="FF0000"/>
                </a:solidFill>
              </a:rPr>
              <a:t>are promising</a:t>
            </a:r>
            <a:r>
              <a:rPr lang="en-IN" sz="4400"/>
              <a:t> – comparing them with generative models will be beneficial</a:t>
            </a:r>
          </a:p>
        </p:txBody>
      </p:sp>
    </p:spTree>
    <p:extLst>
      <p:ext uri="{BB962C8B-B14F-4D97-AF65-F5344CB8AC3E}">
        <p14:creationId xmlns:p14="http://schemas.microsoft.com/office/powerpoint/2010/main" val="156013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6343-84EE-E72D-5CB4-7E5D7CE9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Project 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D69D2-D06B-7FEF-6552-BFCC57782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1845946"/>
            <a:ext cx="12765404" cy="988694"/>
          </a:xfrm>
        </p:spPr>
        <p:txBody>
          <a:bodyPr>
            <a:normAutofit lnSpcReduction="10000"/>
          </a:bodyPr>
          <a:lstStyle/>
          <a:p>
            <a:r>
              <a:rPr lang="en-IN" sz="2400" b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Given the </a:t>
            </a:r>
            <a:r>
              <a:rPr lang="en-IN" sz="240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criticism</a:t>
            </a:r>
            <a:r>
              <a:rPr lang="en-IN" sz="2400" b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that the common static methods face, we decided to explore the</a:t>
            </a:r>
            <a:r>
              <a:rPr lang="en-IN" sz="24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dynamic analysis</a:t>
            </a:r>
            <a:r>
              <a:rPr lang="en-IN" sz="2400" b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of </a:t>
            </a:r>
            <a:r>
              <a:rPr lang="en-IN" sz="24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malware</a:t>
            </a:r>
            <a:r>
              <a:rPr lang="en-IN" sz="2400" b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as </a:t>
            </a:r>
            <a:r>
              <a:rPr lang="en-IN" sz="240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anomaly detection with GANs</a:t>
            </a:r>
            <a:r>
              <a:rPr lang="en-IN" sz="2400" b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and compare it with the</a:t>
            </a:r>
            <a:r>
              <a:rPr lang="en-IN" sz="24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</a:t>
            </a:r>
            <a:r>
              <a:rPr lang="en-IN" sz="2400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Deep Graph CNN (DGCNN)</a:t>
            </a:r>
            <a:r>
              <a:rPr lang="en-IN" sz="24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</a:t>
            </a:r>
            <a:r>
              <a:rPr lang="en-IN" sz="2400" b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as a baseline.</a:t>
            </a:r>
            <a:endParaRPr lang="en-US" sz="240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56C677D-15D4-D623-2812-2ACB72CD286E}"/>
              </a:ext>
            </a:extLst>
          </p:cNvPr>
          <p:cNvSpPr txBox="1">
            <a:spLocks/>
          </p:cNvSpPr>
          <p:nvPr/>
        </p:nvSpPr>
        <p:spPr>
          <a:xfrm>
            <a:off x="1007746" y="3013710"/>
            <a:ext cx="6189344" cy="4421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889298EE-18ED-41BB-F37B-6E09DF721015}"/>
              </a:ext>
            </a:extLst>
          </p:cNvPr>
          <p:cNvSpPr txBox="1">
            <a:spLocks/>
          </p:cNvSpPr>
          <p:nvPr/>
        </p:nvSpPr>
        <p:spPr>
          <a:xfrm>
            <a:off x="1007746" y="3184208"/>
            <a:ext cx="6189344" cy="4421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A72FA53-2061-3BDA-89A3-E481B10EBA34}"/>
              </a:ext>
            </a:extLst>
          </p:cNvPr>
          <p:cNvSpPr txBox="1">
            <a:spLocks/>
          </p:cNvSpPr>
          <p:nvPr/>
        </p:nvSpPr>
        <p:spPr>
          <a:xfrm>
            <a:off x="7583806" y="3100388"/>
            <a:ext cx="6189344" cy="4421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Our Objectives</a:t>
            </a:r>
          </a:p>
          <a:p>
            <a:r>
              <a:rPr lang="en-IN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Phase I </a:t>
            </a:r>
            <a:r>
              <a:rPr lang="en-IN" sz="2400" b="1">
                <a:solidFill>
                  <a:srgbClr val="00B05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(</a:t>
            </a:r>
            <a:r>
              <a:rPr lang="en-US" sz="2400">
                <a:solidFill>
                  <a:srgbClr val="00B050"/>
                </a:solidFill>
              </a:rPr>
              <a:t>✔</a:t>
            </a:r>
            <a:r>
              <a:rPr lang="en-IN" sz="2400" b="1">
                <a:solidFill>
                  <a:srgbClr val="00B05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)</a:t>
            </a:r>
            <a:r>
              <a:rPr lang="en-IN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: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Build a baseline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DGCNN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to model API call sequences as behavioural graphs, outperforming LSTMs.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(Oliveira &amp; Sassi, 2019)</a:t>
            </a:r>
            <a:r>
              <a:rPr lang="en-IN" sz="2400" b="1" baseline="300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[1]</a:t>
            </a:r>
            <a:endParaRPr lang="en-IN" sz="2400" b="1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r>
              <a:rPr lang="en-IN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Phase II: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Develop a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GAN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to learn goodware API call distributions and distinguish real from fake/anomalous sequences.</a:t>
            </a:r>
          </a:p>
          <a:p>
            <a:r>
              <a:rPr lang="en-IN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Compare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both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dynamic analysis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methods to evaluate effectiveness.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D54C74-AEC6-96DB-E6E6-CAB0BBE1A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50" y="3100388"/>
            <a:ext cx="2676899" cy="25721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A08BD91-623B-138D-D05A-D75E75C98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653" y="4586878"/>
            <a:ext cx="3055437" cy="263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3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2723F26-A325-1BCB-7A30-8B3C8C995E07}"/>
              </a:ext>
            </a:extLst>
          </p:cNvPr>
          <p:cNvSpPr/>
          <p:nvPr/>
        </p:nvSpPr>
        <p:spPr>
          <a:xfrm>
            <a:off x="279009" y="305534"/>
            <a:ext cx="1889760" cy="1899139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latin typeface="Segoe UI" panose="020B0502040204020203" pitchFamily="34" charset="0"/>
                <a:cs typeface="Segoe UI" panose="020B0502040204020203" pitchFamily="34" charset="0"/>
              </a:rPr>
              <a:t>Research Paper</a:t>
            </a:r>
          </a:p>
          <a:p>
            <a:pPr algn="ctr"/>
            <a:endParaRPr lang="en-IN" sz="1400" b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400" b="1">
                <a:latin typeface="Segoe UI" panose="020B0502040204020203" pitchFamily="34" charset="0"/>
                <a:cs typeface="Segoe UI" panose="020B0502040204020203" pitchFamily="34" charset="0"/>
              </a:rPr>
              <a:t>(Oliveira &amp; Sassi 2019)</a:t>
            </a:r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75E733-D2F8-10FB-F17F-AC4CE3C36F13}"/>
              </a:ext>
            </a:extLst>
          </p:cNvPr>
          <p:cNvSpPr/>
          <p:nvPr/>
        </p:nvSpPr>
        <p:spPr>
          <a:xfrm>
            <a:off x="2881532" y="305534"/>
            <a:ext cx="1889760" cy="1899139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latin typeface="Segoe UI" panose="020B0502040204020203" pitchFamily="34" charset="0"/>
                <a:cs typeface="Segoe UI" panose="020B0502040204020203" pitchFamily="34" charset="0"/>
              </a:rPr>
              <a:t>Obtain Data</a:t>
            </a:r>
          </a:p>
          <a:p>
            <a:pPr algn="ctr"/>
            <a:r>
              <a:rPr lang="en-IN" sz="1200" b="1">
                <a:latin typeface="Segoe UI" panose="020B0502040204020203" pitchFamily="34" charset="0"/>
                <a:cs typeface="Segoe UI" panose="020B0502040204020203" pitchFamily="34" charset="0"/>
              </a:rPr>
              <a:t>(Public Domain Dataset)</a:t>
            </a:r>
            <a:endParaRPr lang="en-US" sz="12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840FA9-E2DB-A756-787F-988D4EC344B1}"/>
              </a:ext>
            </a:extLst>
          </p:cNvPr>
          <p:cNvSpPr/>
          <p:nvPr/>
        </p:nvSpPr>
        <p:spPr>
          <a:xfrm>
            <a:off x="5682873" y="305532"/>
            <a:ext cx="1889760" cy="1899139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latin typeface="Segoe UI" panose="020B0502040204020203" pitchFamily="34" charset="0"/>
                <a:cs typeface="Segoe UI" panose="020B0502040204020203" pitchFamily="34" charset="0"/>
              </a:rPr>
              <a:t>Data Transformation</a:t>
            </a:r>
            <a:endParaRPr lang="en-US" sz="12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B010A-ED8A-04F7-6B3D-448B1801A81E}"/>
              </a:ext>
            </a:extLst>
          </p:cNvPr>
          <p:cNvSpPr txBox="1"/>
          <p:nvPr/>
        </p:nvSpPr>
        <p:spPr>
          <a:xfrm>
            <a:off x="324373" y="2309968"/>
            <a:ext cx="188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>
                <a:latin typeface="Segoe UI" panose="020B0502040204020203" pitchFamily="34" charset="0"/>
                <a:cs typeface="Segoe UI" panose="020B0502040204020203" pitchFamily="34" charset="0"/>
              </a:rPr>
              <a:t>Implementing the DGCNN Baseline Paper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D8254B-999F-F594-95E1-BDB050F38631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2168769" y="1255104"/>
            <a:ext cx="7127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B45A67-0BB6-C66B-6338-5C5B95E91292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771292" y="1255102"/>
            <a:ext cx="911581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A56888-416D-C31E-EC54-27FEF8FD09E9}"/>
              </a:ext>
            </a:extLst>
          </p:cNvPr>
          <p:cNvCxnSpPr>
            <a:cxnSpLocks/>
            <a:stCxn id="9" idx="7"/>
            <a:endCxn id="32" idx="1"/>
          </p:cNvCxnSpPr>
          <p:nvPr/>
        </p:nvCxnSpPr>
        <p:spPr>
          <a:xfrm>
            <a:off x="7295884" y="583654"/>
            <a:ext cx="2868024" cy="625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D30917-0D0F-F98C-078E-E6B97851103A}"/>
                  </a:ext>
                </a:extLst>
              </p:cNvPr>
              <p:cNvSpPr txBox="1"/>
              <p:nvPr/>
            </p:nvSpPr>
            <p:spPr>
              <a:xfrm rot="792566">
                <a:off x="7389914" y="549422"/>
                <a:ext cx="2986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Sequences to Graphs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D30917-0D0F-F98C-078E-E6B978511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2566">
                <a:off x="7389914" y="549422"/>
                <a:ext cx="2986604" cy="369332"/>
              </a:xfrm>
              <a:prstGeom prst="rect">
                <a:avLst/>
              </a:prstGeom>
              <a:blipFill>
                <a:blip r:embed="rId2"/>
                <a:stretch>
                  <a:fillRect l="-2236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635ED0-BBA8-B63B-B44D-DE1AE65FD43A}"/>
              </a:ext>
            </a:extLst>
          </p:cNvPr>
          <p:cNvCxnSpPr>
            <a:cxnSpLocks/>
            <a:stCxn id="9" idx="5"/>
            <a:endCxn id="32" idx="1"/>
          </p:cNvCxnSpPr>
          <p:nvPr/>
        </p:nvCxnSpPr>
        <p:spPr>
          <a:xfrm flipV="1">
            <a:off x="7295884" y="1209497"/>
            <a:ext cx="2868024" cy="717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E9DB5F-9B7C-C3C6-17D3-8B6A538CC0E0}"/>
                  </a:ext>
                </a:extLst>
              </p:cNvPr>
              <p:cNvSpPr txBox="1"/>
              <p:nvPr/>
            </p:nvSpPr>
            <p:spPr>
              <a:xfrm rot="20753325">
                <a:off x="7319853" y="1527714"/>
                <a:ext cx="301971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Sequences to Features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IN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ctr"/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E9DB5F-9B7C-C3C6-17D3-8B6A538CC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53325">
                <a:off x="7319853" y="1527714"/>
                <a:ext cx="3019715" cy="923330"/>
              </a:xfrm>
              <a:prstGeom prst="rect">
                <a:avLst/>
              </a:prstGeom>
              <a:blipFill>
                <a:blip r:embed="rId3"/>
                <a:stretch>
                  <a:fillRect l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F8FF7740-D436-5CF5-F066-68CADC80E7C6}"/>
              </a:ext>
            </a:extLst>
          </p:cNvPr>
          <p:cNvSpPr/>
          <p:nvPr/>
        </p:nvSpPr>
        <p:spPr>
          <a:xfrm>
            <a:off x="10163908" y="214322"/>
            <a:ext cx="2168769" cy="199034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Transformed Data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C2B6DB4-1AA2-CEA1-B1AE-F4E6695CDE56}"/>
              </a:ext>
            </a:extLst>
          </p:cNvPr>
          <p:cNvCxnSpPr>
            <a:cxnSpLocks/>
          </p:cNvCxnSpPr>
          <p:nvPr/>
        </p:nvCxnSpPr>
        <p:spPr>
          <a:xfrm>
            <a:off x="3826412" y="2204671"/>
            <a:ext cx="0" cy="5799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A0D3E382-CE5E-FF18-7F78-73BF80319D01}"/>
              </a:ext>
            </a:extLst>
          </p:cNvPr>
          <p:cNvSpPr/>
          <p:nvPr/>
        </p:nvSpPr>
        <p:spPr>
          <a:xfrm>
            <a:off x="2881532" y="2784595"/>
            <a:ext cx="1889760" cy="1899139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latin typeface="Segoe UI" panose="020B0502040204020203" pitchFamily="34" charset="0"/>
                <a:cs typeface="Segoe UI" panose="020B0502040204020203" pitchFamily="34" charset="0"/>
              </a:rPr>
              <a:t>Data Preprocessing</a:t>
            </a:r>
            <a:endParaRPr lang="en-US" sz="12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212C20-AA80-2D7A-154F-CF466A2CD624}"/>
              </a:ext>
            </a:extLst>
          </p:cNvPr>
          <p:cNvCxnSpPr>
            <a:cxnSpLocks/>
            <a:stCxn id="47" idx="6"/>
            <a:endCxn id="9" idx="4"/>
          </p:cNvCxnSpPr>
          <p:nvPr/>
        </p:nvCxnSpPr>
        <p:spPr>
          <a:xfrm flipV="1">
            <a:off x="4771292" y="2204671"/>
            <a:ext cx="1856461" cy="1529494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0D1F01F-57B9-D3AF-866E-90F2F1FDEB8A}"/>
              </a:ext>
            </a:extLst>
          </p:cNvPr>
          <p:cNvSpPr txBox="1"/>
          <p:nvPr/>
        </p:nvSpPr>
        <p:spPr>
          <a:xfrm rot="19104989">
            <a:off x="4492105" y="2933013"/>
            <a:ext cx="25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Balance the Dataset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412A35-E4A2-D5F4-3E55-6FFAEA033775}"/>
              </a:ext>
            </a:extLst>
          </p:cNvPr>
          <p:cNvSpPr txBox="1"/>
          <p:nvPr/>
        </p:nvSpPr>
        <p:spPr>
          <a:xfrm>
            <a:off x="3859473" y="2309968"/>
            <a:ext cx="1236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If Exp. 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555680-D461-9351-5DF7-48CFEA7640C2}"/>
              </a:ext>
            </a:extLst>
          </p:cNvPr>
          <p:cNvSpPr txBox="1"/>
          <p:nvPr/>
        </p:nvSpPr>
        <p:spPr>
          <a:xfrm>
            <a:off x="4752392" y="855474"/>
            <a:ext cx="114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If Exp. 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14DE99C-84E2-16BE-1F35-A4F5B2C1AD41}"/>
              </a:ext>
            </a:extLst>
          </p:cNvPr>
          <p:cNvCxnSpPr>
            <a:stCxn id="32" idx="2"/>
          </p:cNvCxnSpPr>
          <p:nvPr/>
        </p:nvCxnSpPr>
        <p:spPr>
          <a:xfrm flipH="1">
            <a:off x="11248292" y="2204671"/>
            <a:ext cx="1" cy="1402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826DA33-3023-C4DF-9E8B-541C8AC6F6E7}"/>
                  </a:ext>
                </a:extLst>
              </p:cNvPr>
              <p:cNvSpPr txBox="1"/>
              <p:nvPr/>
            </p:nvSpPr>
            <p:spPr>
              <a:xfrm>
                <a:off x="10923857" y="2713948"/>
                <a:ext cx="1408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826DA33-3023-C4DF-9E8B-541C8AC6F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857" y="2713948"/>
                <a:ext cx="14088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A75AF661-AA45-136F-3667-4C5ACAA66FBB}"/>
              </a:ext>
            </a:extLst>
          </p:cNvPr>
          <p:cNvSpPr/>
          <p:nvPr/>
        </p:nvSpPr>
        <p:spPr>
          <a:xfrm>
            <a:off x="9412947" y="3561129"/>
            <a:ext cx="3698240" cy="28956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EC1111A-AD15-DE47-1A27-E6E61E938470}"/>
              </a:ext>
            </a:extLst>
          </p:cNvPr>
          <p:cNvSpPr/>
          <p:nvPr/>
        </p:nvSpPr>
        <p:spPr>
          <a:xfrm>
            <a:off x="9702799" y="3840480"/>
            <a:ext cx="3068317" cy="54285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 Convolution Layer</a:t>
            </a:r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E7E5E3C-B029-7390-8AF9-42E6B7AD66E5}"/>
              </a:ext>
            </a:extLst>
          </p:cNvPr>
          <p:cNvSpPr/>
          <p:nvPr/>
        </p:nvSpPr>
        <p:spPr>
          <a:xfrm>
            <a:off x="9727908" y="4503514"/>
            <a:ext cx="3068317" cy="54285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Flatten Layer (+Dropout)</a:t>
            </a:r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34542E6-EC6F-8E39-4E4A-62627908EC64}"/>
              </a:ext>
            </a:extLst>
          </p:cNvPr>
          <p:cNvSpPr/>
          <p:nvPr/>
        </p:nvSpPr>
        <p:spPr>
          <a:xfrm>
            <a:off x="9727908" y="5177042"/>
            <a:ext cx="3068317" cy="54285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Hidden Dense Layer</a:t>
            </a:r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B7DE2E5-DA9F-E547-4AE0-678668E2A429}"/>
              </a:ext>
            </a:extLst>
          </p:cNvPr>
          <p:cNvSpPr/>
          <p:nvPr/>
        </p:nvSpPr>
        <p:spPr>
          <a:xfrm>
            <a:off x="9727908" y="5816885"/>
            <a:ext cx="3068317" cy="54285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Output Dense Layer</a:t>
            </a:r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6268AE-4402-4EDF-0CBA-AC0E523600C2}"/>
              </a:ext>
            </a:extLst>
          </p:cNvPr>
          <p:cNvSpPr txBox="1"/>
          <p:nvPr/>
        </p:nvSpPr>
        <p:spPr>
          <a:xfrm>
            <a:off x="10219544" y="6576907"/>
            <a:ext cx="211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Model-1, DGCNN</a:t>
            </a:r>
            <a:endParaRPr lang="en-US" b="1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9D77786-7E12-C35F-72A3-8A2CB2249BF0}"/>
              </a:ext>
            </a:extLst>
          </p:cNvPr>
          <p:cNvCxnSpPr>
            <a:cxnSpLocks/>
            <a:stCxn id="77" idx="1"/>
            <a:endCxn id="86" idx="3"/>
          </p:cNvCxnSpPr>
          <p:nvPr/>
        </p:nvCxnSpPr>
        <p:spPr>
          <a:xfrm flipH="1">
            <a:off x="8185597" y="5008929"/>
            <a:ext cx="1227350" cy="374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F35DECA-FECB-21AA-164D-988EA54B48BA}"/>
              </a:ext>
            </a:extLst>
          </p:cNvPr>
          <p:cNvSpPr/>
          <p:nvPr/>
        </p:nvSpPr>
        <p:spPr>
          <a:xfrm>
            <a:off x="6863443" y="4389684"/>
            <a:ext cx="1322154" cy="1313371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Demo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470304-4DD9-8CE5-4672-1793610B9CB2}"/>
              </a:ext>
            </a:extLst>
          </p:cNvPr>
          <p:cNvSpPr txBox="1"/>
          <p:nvPr/>
        </p:nvSpPr>
        <p:spPr>
          <a:xfrm>
            <a:off x="279009" y="5325721"/>
            <a:ext cx="108855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Course of Implementation of our Project (Phase-I)</a:t>
            </a:r>
          </a:p>
          <a:p>
            <a:endParaRPr lang="en-IN"/>
          </a:p>
          <a:p>
            <a:r>
              <a:rPr lang="en-IN"/>
              <a:t>Exp. 1 -&gt; DGCNN on Balanced Dataset</a:t>
            </a:r>
          </a:p>
          <a:p>
            <a:r>
              <a:rPr lang="en-IN"/>
              <a:t>Exp. 2 -&gt; DGCNN on Imbalanced Dataset</a:t>
            </a:r>
          </a:p>
          <a:p>
            <a:endParaRPr lang="en-IN"/>
          </a:p>
          <a:p>
            <a:r>
              <a:rPr lang="en-IN" b="1">
                <a:solidFill>
                  <a:srgbClr val="FF0000"/>
                </a:solidFill>
              </a:rPr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Our dataset contains</a:t>
            </a:r>
            <a:r>
              <a:rPr lang="en-IN">
                <a:solidFill>
                  <a:srgbClr val="FF0000"/>
                </a:solidFill>
              </a:rPr>
              <a:t> Windows API call sequences</a:t>
            </a:r>
            <a:r>
              <a:rPr lang="en-IN"/>
              <a:t>, one row each per executable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It’s </a:t>
            </a:r>
            <a:r>
              <a:rPr lang="en-IN">
                <a:solidFill>
                  <a:srgbClr val="FF0000"/>
                </a:solidFill>
              </a:rPr>
              <a:t>highly imbalanced</a:t>
            </a:r>
            <a:r>
              <a:rPr lang="en-IN"/>
              <a:t>, with 42,797 malware and 1,097 benign sequence samples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6BB69-A1B2-31DD-24C0-1CE31AE4E1B5}"/>
              </a:ext>
            </a:extLst>
          </p:cNvPr>
          <p:cNvSpPr txBox="1"/>
          <p:nvPr/>
        </p:nvSpPr>
        <p:spPr>
          <a:xfrm>
            <a:off x="98732" y="3177243"/>
            <a:ext cx="23410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“</a:t>
            </a:r>
            <a:r>
              <a:rPr lang="en-US" sz="1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Behavioral Malware Detection Using Deep Graph Convolutional Neural Networks</a:t>
            </a:r>
            <a:r>
              <a:rPr lang="en-IN" sz="1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”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2599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9DE3-2FF9-3DC1-62A7-B43CC9488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9414-48DF-8CE9-19EF-F9C98C71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Before We Begin…</a:t>
            </a:r>
            <a:endParaRPr lang="en-US" sz="4400" b="1">
              <a:solidFill>
                <a:srgbClr val="FF0000"/>
              </a:solidFill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CE092-F267-5535-9192-F452BB535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610" y="1623646"/>
            <a:ext cx="12765404" cy="6167804"/>
          </a:xfrm>
        </p:spPr>
        <p:txBody>
          <a:bodyPr anchor="t">
            <a:normAutofit/>
          </a:bodyPr>
          <a:lstStyle/>
          <a:p>
            <a:r>
              <a:rPr lang="en-IN" sz="2400" i="1"/>
              <a:t>Why specifically the DGCNN?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/>
              <a:t>It’s a </a:t>
            </a:r>
            <a:r>
              <a:rPr lang="en-IN" sz="2400" b="0">
                <a:solidFill>
                  <a:srgbClr val="FF0000"/>
                </a:solidFill>
              </a:rPr>
              <a:t>promising</a:t>
            </a:r>
            <a:r>
              <a:rPr lang="en-IN" sz="2400" b="0"/>
              <a:t>, novel method that demonstrates the use of </a:t>
            </a:r>
            <a:r>
              <a:rPr lang="en-IN" sz="2400" b="0">
                <a:solidFill>
                  <a:srgbClr val="FF0000"/>
                </a:solidFill>
              </a:rPr>
              <a:t>graph</a:t>
            </a:r>
            <a:r>
              <a:rPr lang="en-IN" sz="2400" b="0"/>
              <a:t> models with performance superior to </a:t>
            </a:r>
            <a:r>
              <a:rPr lang="en-IN" sz="2400" b="0">
                <a:solidFill>
                  <a:srgbClr val="FF0000"/>
                </a:solidFill>
              </a:rPr>
              <a:t>sequence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/>
              <a:t>Instead of implementing the common sequence models, we choose to implement and test two new paradigms (the DGCNN and our GAN) together</a:t>
            </a:r>
          </a:p>
          <a:p>
            <a:endParaRPr lang="en-IN" sz="2400" b="0"/>
          </a:p>
          <a:p>
            <a:r>
              <a:rPr lang="en-IN" sz="2400" i="1"/>
              <a:t>Why implement a GAN for Anomaly Detection? Why not simpler models or VAE’s?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/>
              <a:t>Simpler classification models focus on </a:t>
            </a:r>
            <a:r>
              <a:rPr lang="en-IN" sz="2400" b="0">
                <a:solidFill>
                  <a:srgbClr val="FF0000"/>
                </a:solidFill>
              </a:rPr>
              <a:t>maximizing class separation</a:t>
            </a:r>
            <a:r>
              <a:rPr lang="en-IN" sz="2400" b="0"/>
              <a:t>, but we need a model that </a:t>
            </a:r>
            <a:r>
              <a:rPr lang="en-IN" sz="2400" b="0">
                <a:solidFill>
                  <a:srgbClr val="FF0000"/>
                </a:solidFill>
              </a:rPr>
              <a:t>learns the probability distribution</a:t>
            </a:r>
            <a:r>
              <a:rPr lang="en-IN" sz="2400" b="0"/>
              <a:t> of normal goodware behaviour instead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/>
              <a:t>A GAN’s </a:t>
            </a:r>
            <a:r>
              <a:rPr lang="en-IN" sz="2400" b="0">
                <a:solidFill>
                  <a:srgbClr val="FF0000"/>
                </a:solidFill>
              </a:rPr>
              <a:t>discriminator learns a sharp decision boundary </a:t>
            </a:r>
            <a:r>
              <a:rPr lang="en-IN" sz="2400" b="0"/>
              <a:t>of what is authentic, providing more precise anomaly signals than </a:t>
            </a:r>
            <a:r>
              <a:rPr lang="en-IN" sz="2400" b="0">
                <a:solidFill>
                  <a:srgbClr val="FF0000"/>
                </a:solidFill>
              </a:rPr>
              <a:t>VAEs that don’t have discriminators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/>
              <a:t>GAN’s are </a:t>
            </a:r>
            <a:r>
              <a:rPr lang="en-IN" sz="2400" b="0">
                <a:solidFill>
                  <a:srgbClr val="FF0000"/>
                </a:solidFill>
              </a:rPr>
              <a:t>understudied models</a:t>
            </a:r>
            <a:r>
              <a:rPr lang="en-IN" sz="2400" b="0"/>
              <a:t> for this type of task, providing us the opportunity to research and compare their use for the same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0"/>
          </a:p>
          <a:p>
            <a:endParaRPr lang="en-IN" sz="2400" b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07CF128-478B-5D5D-E7D6-673A511B20F9}"/>
              </a:ext>
            </a:extLst>
          </p:cNvPr>
          <p:cNvSpPr txBox="1">
            <a:spLocks/>
          </p:cNvSpPr>
          <p:nvPr/>
        </p:nvSpPr>
        <p:spPr>
          <a:xfrm>
            <a:off x="1007746" y="3013710"/>
            <a:ext cx="6189344" cy="4421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8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3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1B5C36A-3F99-A673-39C9-A32CB8D8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Phase I:</a:t>
            </a:r>
            <a:r>
              <a:rPr lang="en-IN" sz="4400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</a:t>
            </a:r>
            <a:r>
              <a:rPr lang="en-IN" sz="4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Baseline DGCNN Implementation</a:t>
            </a:r>
            <a:endParaRPr lang="en-US" sz="440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9B383FA-5937-A107-7E04-B003C73A6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190750"/>
            <a:ext cx="12618720" cy="5221606"/>
          </a:xfrm>
        </p:spPr>
        <p:txBody>
          <a:bodyPr>
            <a:normAutofit/>
          </a:bodyPr>
          <a:lstStyle/>
          <a:p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We followed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A.S.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Oliveira &amp; R. J. Sassi’s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paper,</a:t>
            </a:r>
            <a:r>
              <a:rPr lang="en-IN" sz="2400" b="1" i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</a:t>
            </a:r>
            <a:r>
              <a:rPr lang="en-IN" sz="2400" b="1" i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“</a:t>
            </a:r>
            <a:r>
              <a:rPr lang="en-US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Behavioral Malware Detection Using Deep Graph Convolutional Neural Networks</a:t>
            </a:r>
            <a:r>
              <a:rPr lang="en-IN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”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(2019)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to implement the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DGCNN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baseline as our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first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step.</a:t>
            </a:r>
          </a:p>
          <a:p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The authors collected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40,000+ 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benign and malicious samples of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Windows Process API call sequences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from controlled experiments in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Cuckoo Sandbox.</a:t>
            </a:r>
          </a:p>
          <a:p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They implemented the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Deep Graph Convolutional Neural Network (DGCNN)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on both balanced and imbalanced datasets.</a:t>
            </a:r>
          </a:p>
          <a:p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Our goal was to implement the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DGCNN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as a comparison baseline for our </a:t>
            </a:r>
            <a:r>
              <a:rPr lang="en-IN" sz="24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GAN </a:t>
            </a:r>
            <a:r>
              <a:rPr lang="en-IN" sz="2400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(yet to implement)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, following their methods in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Experiment 1 (Balanced Data), 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and </a:t>
            </a:r>
            <a:r>
              <a:rPr lang="en-IN" sz="2400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Experiment 2 (Imbalanced Data) </a:t>
            </a:r>
            <a:r>
              <a:rPr lang="en-IN" sz="24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of their paper.</a:t>
            </a:r>
          </a:p>
          <a:p>
            <a:pPr marL="0" indent="0">
              <a:buNone/>
            </a:pPr>
            <a:endParaRPr lang="en-IN" sz="2400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  <a:p>
            <a:endParaRPr lang="en-IN" sz="2400" b="1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1578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Dataset Overview</a:t>
            </a:r>
            <a:endParaRPr lang="en-US" sz="44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1" y="1863365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42,797</a:t>
            </a:r>
            <a:endParaRPr lang="en-US" sz="5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0114" y="289516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Malware Samples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1" y="3399747"/>
            <a:ext cx="304800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Comprehensive collection from Cuckoo Sandbox environment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25279" y="186336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1,079</a:t>
            </a:r>
            <a:endParaRPr lang="en-US" sz="5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31720" y="289516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Goodware Samples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25279" y="3399747"/>
            <a:ext cx="304811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Benign software for comparison and training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6885" y="186336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307</a:t>
            </a:r>
            <a:endParaRPr lang="en-US" sz="5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63327" y="289516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Unique API Calls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56885" y="3399747"/>
            <a:ext cx="304811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Global vocabulary of distinct system calls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88492" y="186336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100</a:t>
            </a:r>
            <a:endParaRPr lang="en-US" sz="5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894934" y="289516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Calls Per Sample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8492" y="3399747"/>
            <a:ext cx="304811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Maximum recorded API sequences per program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0114" y="450859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>
                <a:solidFill>
                  <a:srgbClr val="FF000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NOTE:</a:t>
            </a:r>
            <a:r>
              <a:rPr lang="en-US" sz="17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The 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dataset exhibits </a:t>
            </a:r>
            <a:r>
              <a:rPr lang="en-US" sz="175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severe class imbalance</a:t>
            </a: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, reflecting real-world malware distribution </a:t>
            </a:r>
            <a:r>
              <a:rPr lang="en-US" sz="17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patterns.</a:t>
            </a:r>
            <a:endParaRPr lang="en-US" sz="17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911FED-E508-EBAB-DC65-A65279CB8848}"/>
                  </a:ext>
                </a:extLst>
              </p:cNvPr>
              <p:cNvSpPr txBox="1"/>
              <p:nvPr/>
            </p:nvSpPr>
            <p:spPr>
              <a:xfrm>
                <a:off x="793791" y="5027844"/>
                <a:ext cx="1293637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We implemented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Model-1 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(Baseline) on 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two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forms of the collected data: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>
                    <a:solidFill>
                      <a:srgbClr val="FF0000"/>
                    </a:solidFill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Experiment 1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, 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Balanced using 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Random-Under Sampling (RUS)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of the majority malware class for a 50-50 class balance. There are hence a total of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Segoe UI" panose="020B0502040204020203" pitchFamily="34" charset="0"/>
                      </a:rPr>
                      <m:t>2,158</m:t>
                    </m:r>
                  </m:oMath>
                </a14:m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samples.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>
                    <a:solidFill>
                      <a:srgbClr val="FF0000"/>
                    </a:solidFill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Experiment 2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, 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On the original data distribution in the dataset itself, of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Geist" panose="020B0604020202020204" charset="0"/>
                        <a:cs typeface="Segoe UI" panose="020B0502040204020203" pitchFamily="34" charset="0"/>
                      </a:rPr>
                      <m:t>43,877</m:t>
                    </m:r>
                  </m:oMath>
                </a14:m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samples.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A train-test split of 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80/20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was used in both experiments.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Both experiments underwent </a:t>
                </a:r>
                <a:r>
                  <a:rPr lang="en-IN" sz="2000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common data transformation</a:t>
                </a:r>
                <a: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 processes to make them fit into the DGCNN’s shape requirements. </a:t>
                </a:r>
              </a:p>
              <a:p>
                <a:br>
                  <a:rPr lang="en-IN" sz="2000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</a:br>
                <a:endParaRPr lang="en-US" sz="2000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911FED-E508-EBAB-DC65-A65279CB8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1" y="5027844"/>
                <a:ext cx="12936378" cy="2862322"/>
              </a:xfrm>
              <a:prstGeom prst="rect">
                <a:avLst/>
              </a:prstGeom>
              <a:blipFill>
                <a:blip r:embed="rId3"/>
                <a:stretch>
                  <a:fillRect l="-424" t="-1066" r="-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6EAB5-9CD3-D08F-7AD7-FCAC5755C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358516"/>
              </p:ext>
            </p:extLst>
          </p:nvPr>
        </p:nvGraphicFramePr>
        <p:xfrm>
          <a:off x="4988169" y="974110"/>
          <a:ext cx="4132385" cy="336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91">
                  <a:extLst>
                    <a:ext uri="{9D8B030D-6E8A-4147-A177-3AD203B41FA5}">
                      <a16:colId xmlns:a16="http://schemas.microsoft.com/office/drawing/2014/main" val="766991526"/>
                    </a:ext>
                  </a:extLst>
                </a:gridCol>
                <a:gridCol w="3521794">
                  <a:extLst>
                    <a:ext uri="{9D8B030D-6E8A-4147-A177-3AD203B41FA5}">
                      <a16:colId xmlns:a16="http://schemas.microsoft.com/office/drawing/2014/main" val="417282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FF0000"/>
                          </a:solidFill>
                        </a:rPr>
                        <a:t>ID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FF0000"/>
                          </a:solidFill>
                        </a:rPr>
                        <a:t>Windows API Calls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41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NtOpenThread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71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ExitWindowsEx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FindResourceW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487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…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1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150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GetSystemInfo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50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…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…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306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__exception__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638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EAD9413-555E-2F9C-66D9-47EAD6D2E70D}"/>
              </a:ext>
            </a:extLst>
          </p:cNvPr>
          <p:cNvSpPr txBox="1"/>
          <p:nvPr/>
        </p:nvSpPr>
        <p:spPr>
          <a:xfrm>
            <a:off x="5246077" y="360670"/>
            <a:ext cx="361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rgbClr val="FF0000"/>
                </a:solidFill>
              </a:rPr>
              <a:t>API Call Vocabulary</a:t>
            </a:r>
            <a:endParaRPr 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CD91A8-B682-7801-453B-817FE1685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47015"/>
              </p:ext>
            </p:extLst>
          </p:nvPr>
        </p:nvGraphicFramePr>
        <p:xfrm>
          <a:off x="1271952" y="5378390"/>
          <a:ext cx="1208649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42">
                  <a:extLst>
                    <a:ext uri="{9D8B030D-6E8A-4147-A177-3AD203B41FA5}">
                      <a16:colId xmlns:a16="http://schemas.microsoft.com/office/drawing/2014/main" val="3019147372"/>
                    </a:ext>
                  </a:extLst>
                </a:gridCol>
                <a:gridCol w="1726642">
                  <a:extLst>
                    <a:ext uri="{9D8B030D-6E8A-4147-A177-3AD203B41FA5}">
                      <a16:colId xmlns:a16="http://schemas.microsoft.com/office/drawing/2014/main" val="4258928320"/>
                    </a:ext>
                  </a:extLst>
                </a:gridCol>
                <a:gridCol w="1726642">
                  <a:extLst>
                    <a:ext uri="{9D8B030D-6E8A-4147-A177-3AD203B41FA5}">
                      <a16:colId xmlns:a16="http://schemas.microsoft.com/office/drawing/2014/main" val="1855280859"/>
                    </a:ext>
                  </a:extLst>
                </a:gridCol>
                <a:gridCol w="1726642">
                  <a:extLst>
                    <a:ext uri="{9D8B030D-6E8A-4147-A177-3AD203B41FA5}">
                      <a16:colId xmlns:a16="http://schemas.microsoft.com/office/drawing/2014/main" val="1868977432"/>
                    </a:ext>
                  </a:extLst>
                </a:gridCol>
                <a:gridCol w="1726642">
                  <a:extLst>
                    <a:ext uri="{9D8B030D-6E8A-4147-A177-3AD203B41FA5}">
                      <a16:colId xmlns:a16="http://schemas.microsoft.com/office/drawing/2014/main" val="2996056547"/>
                    </a:ext>
                  </a:extLst>
                </a:gridCol>
                <a:gridCol w="1726642">
                  <a:extLst>
                    <a:ext uri="{9D8B030D-6E8A-4147-A177-3AD203B41FA5}">
                      <a16:colId xmlns:a16="http://schemas.microsoft.com/office/drawing/2014/main" val="1742180577"/>
                    </a:ext>
                  </a:extLst>
                </a:gridCol>
                <a:gridCol w="1726642">
                  <a:extLst>
                    <a:ext uri="{9D8B030D-6E8A-4147-A177-3AD203B41FA5}">
                      <a16:colId xmlns:a16="http://schemas.microsoft.com/office/drawing/2014/main" val="414960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hash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t_1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t_2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t_3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t_100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malware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2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071e8c3j3..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124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301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9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33f8e8yu4..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274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83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541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563qe7id6..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306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245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6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87a32hk92..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151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242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7837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1945385-7B16-3BBE-D945-9E89E852B53B}"/>
              </a:ext>
            </a:extLst>
          </p:cNvPr>
          <p:cNvSpPr txBox="1"/>
          <p:nvPr/>
        </p:nvSpPr>
        <p:spPr>
          <a:xfrm>
            <a:off x="4765430" y="4736123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rgbClr val="FF0000"/>
                </a:solidFill>
              </a:rPr>
              <a:t>Dataset Sample</a:t>
            </a:r>
            <a:endParaRPr lang="en-US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29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510" y="592133"/>
            <a:ext cx="1033153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</a:t>
            </a:r>
            <a:r>
              <a:rPr lang="en-US" sz="44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ata Preprocessing &amp; Transformation</a:t>
            </a:r>
            <a:endParaRPr lang="en-US" sz="4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25" y="1679948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018" y="4171242"/>
            <a:ext cx="6408063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01 | Sequence to Graph Representation (Seq2Graph)</a:t>
            </a:r>
            <a:endParaRPr lang="en-US" sz="22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/>
              <p:nvPr/>
            </p:nvSpPr>
            <p:spPr>
              <a:xfrm>
                <a:off x="907018" y="4657258"/>
                <a:ext cx="6407944" cy="58959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750" dirty="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Transform API </a:t>
                </a:r>
                <a:r>
                  <a:rPr lang="en-US" sz="175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call sequences (rows) </a:t>
                </a:r>
                <a:r>
                  <a:rPr lang="en-US" sz="1750" dirty="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into</a:t>
                </a:r>
                <a:r>
                  <a:rPr lang="en-US" sz="1750" b="1" dirty="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 </a:t>
                </a:r>
                <a:r>
                  <a:rPr lang="en-US" sz="1750" b="1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behavioural graphs represented as adjacency matrices </a:t>
                </a:r>
                <a14:m>
                  <m:oMath xmlns:m="http://schemas.openxmlformats.org/officeDocument/2006/math">
                    <m:r>
                      <a:rPr lang="en-IN" sz="1750" b="1" i="1" smtClean="0">
                        <a:solidFill>
                          <a:srgbClr val="EBEDF0"/>
                        </a:solidFill>
                        <a:latin typeface="Cambria Math" panose="02040503050406030204" pitchFamily="18" charset="0"/>
                        <a:ea typeface="Geist" pitchFamily="34" charset="-122"/>
                        <a:cs typeface="Geist" pitchFamily="34" charset="-120"/>
                      </a:rPr>
                      <m:t>(</m:t>
                    </m:r>
                    <m:r>
                      <a:rPr lang="en-IN" sz="1750" b="0" i="1" smtClean="0">
                        <a:solidFill>
                          <a:srgbClr val="EBEDF0"/>
                        </a:solidFill>
                        <a:latin typeface="Cambria Math" panose="02040503050406030204" pitchFamily="18" charset="0"/>
                        <a:ea typeface="Geist" pitchFamily="34" charset="-122"/>
                        <a:cs typeface="Geist" pitchFamily="34" charset="-120"/>
                      </a:rPr>
                      <m:t>𝐴</m:t>
                    </m:r>
                    <m:r>
                      <a:rPr lang="en-IN" sz="1750" b="0" i="1" smtClean="0">
                        <a:solidFill>
                          <a:srgbClr val="EBEDF0"/>
                        </a:solidFill>
                        <a:latin typeface="Cambria Math" panose="02040503050406030204" pitchFamily="18" charset="0"/>
                        <a:ea typeface="Geist" pitchFamily="34" charset="-122"/>
                        <a:cs typeface="Geist" pitchFamily="34" charset="-120"/>
                      </a:rPr>
                      <m:t>)</m:t>
                    </m:r>
                  </m:oMath>
                </a14:m>
                <a:r>
                  <a:rPr lang="en-US" sz="175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 </a:t>
                </a:r>
                <a:r>
                  <a:rPr lang="en-US" sz="1750" dirty="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where nodes represent calls and edges show </a:t>
                </a:r>
                <a:r>
                  <a:rPr lang="en-US" sz="175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temporal succession during execution.</a:t>
                </a:r>
                <a:endParaRPr lang="en-US" sz="1750" dirty="0"/>
              </a:p>
            </p:txBody>
          </p:sp>
        </mc:Choice>
        <mc:Fallback xmlns="">
          <p:sp>
            <p:nvSpPr>
              <p:cNvPr id="6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18" y="4657258"/>
                <a:ext cx="6407944" cy="589598"/>
              </a:xfrm>
              <a:prstGeom prst="rect">
                <a:avLst/>
              </a:prstGeom>
              <a:blipFill>
                <a:blip r:embed="rId4"/>
                <a:stretch>
                  <a:fillRect l="-2093" t="-10309" r="-571" b="-6701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5"/>
          <p:cNvSpPr/>
          <p:nvPr/>
        </p:nvSpPr>
        <p:spPr>
          <a:xfrm>
            <a:off x="907018" y="5596000"/>
            <a:ext cx="3301603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02 | Feature </a:t>
            </a:r>
            <a:r>
              <a:rPr lang="en-US" sz="22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Matrix Creation</a:t>
            </a:r>
            <a:endParaRPr lang="en-US" sz="22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/>
              <p:nvPr/>
            </p:nvSpPr>
            <p:spPr>
              <a:xfrm>
                <a:off x="907137" y="5929574"/>
                <a:ext cx="6408063" cy="58959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750" dirty="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One-hot encode API sequences into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solidFill>
                          <a:srgbClr val="EBEDF0"/>
                        </a:solidFill>
                        <a:latin typeface="Cambria Math" panose="02040503050406030204" pitchFamily="18" charset="0"/>
                        <a:ea typeface="Geist" pitchFamily="34" charset="-122"/>
                        <a:cs typeface="Segoe UI" panose="020B0502040204020203" pitchFamily="34" charset="0"/>
                      </a:rPr>
                      <m:t>307×100</m:t>
                    </m:r>
                  </m:oMath>
                </a14:m>
                <a:r>
                  <a:rPr lang="en-US" sz="175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 matrices (</a:t>
                </a:r>
                <a14:m>
                  <m:oMath xmlns:m="http://schemas.openxmlformats.org/officeDocument/2006/math">
                    <m:r>
                      <a:rPr lang="en-IN" sz="1750" b="0" i="1" smtClean="0">
                        <a:solidFill>
                          <a:srgbClr val="EBEDF0"/>
                        </a:solidFill>
                        <a:latin typeface="Cambria Math" panose="02040503050406030204" pitchFamily="18" charset="0"/>
                        <a:ea typeface="Geist" pitchFamily="34" charset="-122"/>
                        <a:cs typeface="Geist" pitchFamily="34" charset="-120"/>
                      </a:rPr>
                      <m:t>𝑋</m:t>
                    </m:r>
                  </m:oMath>
                </a14:m>
                <a:r>
                  <a:rPr lang="en-US" sz="175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), </a:t>
                </a:r>
                <a:r>
                  <a:rPr lang="en-US" sz="1750" dirty="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transposed for graph </a:t>
                </a:r>
                <a:r>
                  <a:rPr lang="en-US" sz="1750">
                    <a:solidFill>
                      <a:srgbClr val="EBEDF0"/>
                    </a:solidFill>
                    <a:latin typeface="Segoe UI" panose="020B0502040204020203" pitchFamily="34" charset="0"/>
                    <a:ea typeface="Geist" pitchFamily="34" charset="-122"/>
                    <a:cs typeface="Segoe UI" panose="020B0502040204020203" pitchFamily="34" charset="0"/>
                  </a:rPr>
                  <a:t>convolution compatibility (matrix multiplication).</a:t>
                </a:r>
                <a:endParaRPr lang="en-US" sz="1750" dirty="0"/>
              </a:p>
            </p:txBody>
          </p:sp>
        </mc:Choice>
        <mc:Fallback xmlns=""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37" y="5929574"/>
                <a:ext cx="6408063" cy="589598"/>
              </a:xfrm>
              <a:prstGeom prst="rect">
                <a:avLst/>
              </a:prstGeom>
              <a:blipFill>
                <a:blip r:embed="rId5"/>
                <a:stretch>
                  <a:fillRect l="-2093" t="-11458" b="-687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00917BD8-ED8F-5FF6-8CA3-07BDFF983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85" y="2062327"/>
            <a:ext cx="5520690" cy="381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F03F59-4E24-D360-E3C3-A60F462C58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5685" y="3393571"/>
            <a:ext cx="5520687" cy="11125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E1BE3C-28C4-9753-784E-FDBD382F63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5685" y="5592487"/>
            <a:ext cx="5539740" cy="111252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3535A5-446C-0AC7-B25C-FAE229FAF166}"/>
              </a:ext>
            </a:extLst>
          </p:cNvPr>
          <p:cNvCxnSpPr>
            <a:cxnSpLocks/>
          </p:cNvCxnSpPr>
          <p:nvPr/>
        </p:nvCxnSpPr>
        <p:spPr>
          <a:xfrm>
            <a:off x="11089768" y="2484116"/>
            <a:ext cx="0" cy="832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CBBCC2-F5B7-5508-74A4-99FEA615EE77}"/>
              </a:ext>
            </a:extLst>
          </p:cNvPr>
          <p:cNvCxnSpPr/>
          <p:nvPr/>
        </p:nvCxnSpPr>
        <p:spPr>
          <a:xfrm>
            <a:off x="11089768" y="4609684"/>
            <a:ext cx="0" cy="832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D73562-EA03-D8E6-3869-698C536AE6E1}"/>
              </a:ext>
            </a:extLst>
          </p:cNvPr>
          <p:cNvSpPr txBox="1"/>
          <p:nvPr/>
        </p:nvSpPr>
        <p:spPr>
          <a:xfrm>
            <a:off x="8227414" y="1679948"/>
            <a:ext cx="434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Sample API Sequence (Top 100 Calls)</a:t>
            </a:r>
            <a:endParaRPr lang="en-US" b="1">
              <a:latin typeface="Segoe UI" panose="020B0502040204020203" pitchFamily="34" charset="0"/>
              <a:ea typeface="Geist" panose="020B060402020202020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AD2798-9A2E-3E09-2C3C-43DCB83F0E4D}"/>
                  </a:ext>
                </a:extLst>
              </p:cNvPr>
              <p:cNvSpPr txBox="1"/>
              <p:nvPr/>
            </p:nvSpPr>
            <p:spPr>
              <a:xfrm>
                <a:off x="8285849" y="2970430"/>
                <a:ext cx="63445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Adjacency Matrix                                                    </a:t>
                </a:r>
                <a:r>
                  <a:rPr lang="en-IN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𝐴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)</m:t>
                    </m:r>
                  </m:oMath>
                </a14:m>
                <a:endParaRPr lang="en-US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AD2798-9A2E-3E09-2C3C-43DCB83F0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49" y="2970430"/>
                <a:ext cx="6344551" cy="369332"/>
              </a:xfrm>
              <a:prstGeom prst="rect">
                <a:avLst/>
              </a:prstGeom>
              <a:blipFill>
                <a:blip r:embed="rId9"/>
                <a:stretch>
                  <a:fillRect l="-76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99E03F-D8CB-DEDD-1C0A-38B39DE88920}"/>
                  </a:ext>
                </a:extLst>
              </p:cNvPr>
              <p:cNvSpPr txBox="1"/>
              <p:nvPr/>
            </p:nvSpPr>
            <p:spPr>
              <a:xfrm>
                <a:off x="8227413" y="5220893"/>
                <a:ext cx="5827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Node Feature Matrix                                                </a:t>
                </a:r>
                <a:r>
                  <a:rPr lang="en-IN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Geist" panose="020B0604020202020204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IN">
                    <a:latin typeface="Segoe UI" panose="020B0502040204020203" pitchFamily="34" charset="0"/>
                    <a:ea typeface="Geist" panose="020B0604020202020204" charset="0"/>
                    <a:cs typeface="Segoe UI" panose="020B0502040204020203" pitchFamily="34" charset="0"/>
                  </a:rPr>
                  <a:t>)</a:t>
                </a:r>
                <a:endParaRPr lang="en-US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99E03F-D8CB-DEDD-1C0A-38B39DE88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413" y="5220893"/>
                <a:ext cx="5827254" cy="369332"/>
              </a:xfrm>
              <a:prstGeom prst="rect">
                <a:avLst/>
              </a:prstGeom>
              <a:blipFill>
                <a:blip r:embed="rId10"/>
                <a:stretch>
                  <a:fillRect l="-94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D5B537B-1601-644B-5BB6-D64B37C88B93}"/>
                  </a:ext>
                </a:extLst>
              </p:cNvPr>
              <p:cNvSpPr txBox="1"/>
              <p:nvPr/>
            </p:nvSpPr>
            <p:spPr>
              <a:xfrm>
                <a:off x="8285849" y="4472592"/>
                <a:ext cx="4342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>
                    <a:solidFill>
                      <a:srgbClr val="FF0000"/>
                    </a:solidFill>
                    <a:ea typeface="Geist" panose="020B0604020202020204" charset="0"/>
                    <a:cs typeface="Geist" panose="020B0604020202020204" charset="0"/>
                  </a:rPr>
                  <a:t>Shape:</a:t>
                </a:r>
                <a:r>
                  <a:rPr lang="en-IN" b="0">
                    <a:ea typeface="Geist" panose="020B0604020202020204" charset="0"/>
                    <a:cs typeface="Geist" panose="020B06040202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307×307</m:t>
                    </m:r>
                  </m:oMath>
                </a14:m>
                <a:endParaRPr lang="en-US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D5B537B-1601-644B-5BB6-D64B37C88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49" y="4472592"/>
                <a:ext cx="4342690" cy="369332"/>
              </a:xfrm>
              <a:prstGeom prst="rect">
                <a:avLst/>
              </a:prstGeom>
              <a:blipFill>
                <a:blip r:embed="rId11"/>
                <a:stretch>
                  <a:fillRect l="-112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8CEE9C-6161-8B2B-1D71-5107AD2A7A0C}"/>
                  </a:ext>
                </a:extLst>
              </p:cNvPr>
              <p:cNvSpPr txBox="1"/>
              <p:nvPr/>
            </p:nvSpPr>
            <p:spPr>
              <a:xfrm>
                <a:off x="8285849" y="6681433"/>
                <a:ext cx="4342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>
                    <a:solidFill>
                      <a:srgbClr val="FF0000"/>
                    </a:solidFill>
                    <a:ea typeface="Geist" panose="020B0604020202020204" charset="0"/>
                    <a:cs typeface="Geist" panose="020B0604020202020204" charset="0"/>
                  </a:rPr>
                  <a:t>Shape:</a:t>
                </a:r>
                <a:r>
                  <a:rPr lang="en-IN">
                    <a:ea typeface="Geist" panose="020B0604020202020204" charset="0"/>
                    <a:cs typeface="Geist" panose="020B06040202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Geist" panose="020B0604020202020204" charset="0"/>
                        <a:cs typeface="Geist" panose="020B0604020202020204" charset="0"/>
                      </a:rPr>
                      <m:t>307×100</m:t>
                    </m:r>
                  </m:oMath>
                </a14:m>
                <a:endParaRPr lang="en-US">
                  <a:latin typeface="Segoe UI" panose="020B0502040204020203" pitchFamily="34" charset="0"/>
                  <a:ea typeface="Geist" panose="020B060402020202020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8CEE9C-6161-8B2B-1D71-5107AD2A7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49" y="6681433"/>
                <a:ext cx="4342690" cy="369332"/>
              </a:xfrm>
              <a:prstGeom prst="rect">
                <a:avLst/>
              </a:prstGeom>
              <a:blipFill>
                <a:blip r:embed="rId12"/>
                <a:stretch>
                  <a:fillRect l="-112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D91595-96A6-07A3-16EA-621103C020BA}"/>
                  </a:ext>
                </a:extLst>
              </p:cNvPr>
              <p:cNvSpPr txBox="1"/>
              <p:nvPr/>
            </p:nvSpPr>
            <p:spPr>
              <a:xfrm>
                <a:off x="8227414" y="2422417"/>
                <a:ext cx="2666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43877</m:t>
                    </m:r>
                  </m:oMath>
                </a14:m>
                <a:r>
                  <a:rPr lang="en-US"/>
                  <a:t> rows,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/>
                  <a:t> columns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D91595-96A6-07A3-16EA-621103C0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414" y="2422417"/>
                <a:ext cx="2666364" cy="369332"/>
              </a:xfrm>
              <a:prstGeom prst="rect">
                <a:avLst/>
              </a:prstGeom>
              <a:blipFill>
                <a:blip r:embed="rId13"/>
                <a:stretch>
                  <a:fillRect t="-8197" r="-160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04D5B72-0AB7-D8E0-40DA-417C68595A83}"/>
              </a:ext>
            </a:extLst>
          </p:cNvPr>
          <p:cNvSpPr txBox="1"/>
          <p:nvPr/>
        </p:nvSpPr>
        <p:spPr>
          <a:xfrm>
            <a:off x="774025" y="1710428"/>
            <a:ext cx="69203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For </a:t>
            </a:r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Experiment 1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, the data imbalance was handled by performing </a:t>
            </a:r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Random Undersampling (RUS) 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on the </a:t>
            </a:r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majority 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malware class, so that both of the classes could have a </a:t>
            </a:r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50-50 balance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en-US" b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Apart from handling the imbalance, we had to perform the following data transformations to make the data workable with the DGCNN (according to the paper):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9E29-AA14-3D90-FA5E-D7EB973C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C0FB-499E-8E3F-85BC-1301265A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</a:t>
            </a:r>
            <a:r>
              <a:rPr lang="en-US" sz="44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ata Transformation Steps</a:t>
            </a:r>
            <a:endParaRPr lang="en-US" sz="4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7021553-4691-0D2A-4185-F91EF24AA5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616181"/>
                  </p:ext>
                </p:extLst>
              </p:nvPr>
            </p:nvGraphicFramePr>
            <p:xfrm>
              <a:off x="1005840" y="2043942"/>
              <a:ext cx="12618720" cy="52552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6309360">
                      <a:extLst>
                        <a:ext uri="{9D8B030D-6E8A-4147-A177-3AD203B41FA5}">
                          <a16:colId xmlns:a16="http://schemas.microsoft.com/office/drawing/2014/main" val="4045779464"/>
                        </a:ext>
                      </a:extLst>
                    </a:gridCol>
                    <a:gridCol w="6309360">
                      <a:extLst>
                        <a:ext uri="{9D8B030D-6E8A-4147-A177-3AD203B41FA5}">
                          <a16:colId xmlns:a16="http://schemas.microsoft.com/office/drawing/2014/main" val="25166429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/>
                            <a:t>API Sequence to Graph Adjacency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b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/>
                            <a:t>API Sequence to Node Feature Matrix </a:t>
                          </a:r>
                          <a:r>
                            <a:rPr lang="en-IN" sz="2400" b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400" b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6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𝑙𝑒𝑛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𝑠𝑒𝑞𝑢𝑒𝑛𝑐𝑒𝑠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109728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𝑁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←307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initialize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𝑤𝑖𝑡h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range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I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 b="0" i="0" baseline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𝑠𝑒𝑞𝑢𝑒𝑛𝑐𝑒𝑠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oMath>
                          </a14:m>
                          <a:endParaRPr lang="en-I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 b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range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len</m:t>
                                  </m:r>
                                  <m:d>
                                    <m:dPr>
                                      <m:ctrlP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𝑠𝑒𝑞</m:t>
                                      </m:r>
                                    </m:e>
                                  </m:d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endParaRPr lang="en-I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 b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𝑐𝑢𝑟𝑟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oMath>
                          </a14:m>
                          <a:endParaRPr lang="en-I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 b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𝑐𝑢𝑟𝑟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I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a:t>,</a:t>
                          </a:r>
                          <a:r>
                            <a:rPr lang="en-IN" sz="22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a:t> then</a:t>
                          </a:r>
                          <a:endParaRPr lang="en-I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𝑐𝑢𝑟𝑟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nor/>
                                </m:rPr>
                                <a:rPr lang="en-US" sz="220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m:rPr>
                                  <m:nor/>
                                </m:rPr>
                                <a:rPr lang="en-US" sz="220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←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𝑙𝑒𝑛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𝑠𝑒𝑞𝑢𝑒𝑛𝑐𝑒𝑠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𝑁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←307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←100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initialize</m:t>
                                </m:r>
                                <m: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: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𝑁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𝑤𝑖𝑡h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200" i="1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a:rPr lang="en-US" sz="2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range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𝑠𝑒𝑞𝑢𝑒𝑛𝑐𝑒𝑠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range</m:t>
                              </m:r>
                              <m:d>
                                <m:d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  <m:d>
                                    <m:d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𝑠𝑒𝑞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oMath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IN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then</m:t>
                              </m:r>
                            </m:oMath>
                          </a14:m>
                          <a:endParaRPr lang="en-US" sz="2200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      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20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US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1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IN" sz="2000" b="0" i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Turns the API call sequences (rows) to adjacency matrix-based graphs.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is the length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𝑠𝑒𝑞𝑢𝑒𝑛𝑐𝑒𝑠</m:t>
                              </m:r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(43,877)</m:t>
                              </m:r>
                            </m:oMath>
                          </a14:m>
                          <a:endParaRPr lang="en-US" sz="20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is the total number of distinct API</a:t>
                          </a: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calls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0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a:rPr lang="en-IN" sz="2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307</m:t>
                              </m:r>
                              <m:r>
                                <a:rPr lang="en-IN" sz="2000" b="0" i="0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a14:m>
                          <a:endParaRPr lang="en-US" sz="2000" baseline="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IN" sz="2000" b="0" i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Creates a node-feature matrix based on the API call sequence samples (rows).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is the length</a:t>
                          </a: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of a sequence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0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IN" sz="2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that is fixed</a:t>
                          </a: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in the dataset.</a:t>
                          </a:r>
                          <a:endParaRPr lang="en-US" sz="20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02977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7021553-4691-0D2A-4185-F91EF24AA5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616181"/>
                  </p:ext>
                </p:extLst>
              </p:nvPr>
            </p:nvGraphicFramePr>
            <p:xfrm>
              <a:off x="1005840" y="2043942"/>
              <a:ext cx="12618720" cy="52552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6309360">
                      <a:extLst>
                        <a:ext uri="{9D8B030D-6E8A-4147-A177-3AD203B41FA5}">
                          <a16:colId xmlns:a16="http://schemas.microsoft.com/office/drawing/2014/main" val="4045779464"/>
                        </a:ext>
                      </a:extLst>
                    </a:gridCol>
                    <a:gridCol w="6309360">
                      <a:extLst>
                        <a:ext uri="{9D8B030D-6E8A-4147-A177-3AD203B41FA5}">
                          <a16:colId xmlns:a16="http://schemas.microsoft.com/office/drawing/2014/main" val="251664299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" t="-10667" r="-100290" b="-107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193" t="-10667" r="-290" b="-107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63899"/>
                      </a:ext>
                    </a:extLst>
                  </a:tr>
                  <a:tr h="34874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" t="-14485" r="-100290" b="-406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193" t="-14485" r="-290" b="-406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1652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3" t="-305116" r="-100290" b="-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193" t="-305116" r="-290" b="-83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2977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4438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685A-CD80-5CDC-525D-A6EA36EB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5800"/>
              </a:lnSpc>
            </a:pPr>
            <a:r>
              <a:rPr lang="en-US" sz="44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DGCNN (Model-1) Implementation</a:t>
            </a:r>
            <a:endParaRPr lang="en-US" sz="4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39C88-2F45-9941-AD2C-5FD3407B2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5840" y="1852246"/>
                <a:ext cx="12618720" cy="556011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Our model implementation replicates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 Model-1 (DGCNN)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 from the paper, that has the following structure:</a:t>
                </a:r>
              </a:p>
              <a:p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A single 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Graph Convolution Layer 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based on the paper’s implementation</a:t>
                </a:r>
              </a:p>
              <a:p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A 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ReLU (Rectified Linear-Unit)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 activation function</a:t>
                </a:r>
              </a:p>
              <a:p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A 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Dropout 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layer with a rate of 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0.60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 for regularization</a:t>
                </a:r>
              </a:p>
              <a:p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A 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Flatten 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layer followed by </a:t>
                </a:r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Dense</a:t>
                </a:r>
                <a:r>
                  <a:rPr lang="en-US" sz="2400">
                    <a:latin typeface="Segoe UI" panose="020B0502040204020203" pitchFamily="34" charset="0"/>
                    <a:cs typeface="Segoe UI" panose="020B0502040204020203" pitchFamily="34" charset="0"/>
                  </a:rPr>
                  <a:t> layers for final binary classification</a:t>
                </a:r>
              </a:p>
              <a:p>
                <a:pPr marL="0" indent="0">
                  <a:buNone/>
                </a:pPr>
                <a:endParaRPr lang="en-US" sz="24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2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Key Considerations:</a:t>
                </a:r>
              </a:p>
              <a:p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The model was trained for at most </a:t>
                </a:r>
                <a:r>
                  <a:rPr lang="en-US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20 epochs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, and </a:t>
                </a:r>
                <a:r>
                  <a:rPr lang="en-US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early stopping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was implemented to prevent </a:t>
                </a:r>
                <a:r>
                  <a:rPr lang="en-US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overfitting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,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since the model had a very large number of parameters </a:t>
                </a:r>
                <a:r>
                  <a:rPr lang="en-US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(1,260,929)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. This also justifies the rather aggressive dropout rate of </a:t>
                </a:r>
                <a:r>
                  <a:rPr lang="en-US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0.60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, forcing the model to learn patterns that generalize to unseen data.</a:t>
                </a:r>
              </a:p>
              <a:p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An </a:t>
                </a:r>
                <a:r>
                  <a:rPr lang="en-US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Adam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optimizer with a learning rate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=0.001</m:t>
                    </m:r>
                  </m:oMath>
                </a14:m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was used with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Binary Cross Entropy Loss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for optimization, which are standard choices in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binary classification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tasks.</a:t>
                </a:r>
              </a:p>
              <a:p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The model was built and trained using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TensorFlow &amp; Keras (2.15.0)</a:t>
                </a:r>
                <a:endParaRPr lang="en-US" sz="20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39C88-2F45-9941-AD2C-5FD3407B2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5840" y="1852246"/>
                <a:ext cx="12618720" cy="5560110"/>
              </a:xfrm>
              <a:blipFill>
                <a:blip r:embed="rId2"/>
                <a:stretch>
                  <a:fillRect l="-725" t="-2083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92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843"/>
            <a:ext cx="13061972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 Convolution Layer </a:t>
            </a:r>
            <a:endParaRPr lang="en-US" sz="4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69303" y="1920695"/>
            <a:ext cx="1270265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The core mathematical operation that enables learning from graph structures: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824270" y="1665545"/>
            <a:ext cx="30480" cy="805101"/>
          </a:xfrm>
          <a:prstGeom prst="rect">
            <a:avLst/>
          </a:prstGeom>
          <a:solidFill>
            <a:srgbClr val="FF000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93790" y="3349815"/>
                <a:ext cx="6521410" cy="178512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00"/>
                  </a:lnSpc>
                  <a:buNone/>
                </a:pPr>
                <a:r>
                  <a:rPr lang="en-IN" sz="2000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Where,</a:t>
                </a:r>
              </a:p>
              <a:p>
                <a:pPr marL="342900" indent="-342900" algn="l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is the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node feature matrix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marL="342900" indent="-342900" algn="l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is the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weight matrix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of the model</a:t>
                </a:r>
              </a:p>
              <a:p>
                <a:pPr marL="342900" indent="-342900" algn="l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is the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augmented adjacency matrix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indent="-342900" algn="l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is the inverse of the </a:t>
                </a:r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degree matrix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n-US" sz="20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l">
                  <a:lnSpc>
                    <a:spcPts val="2600"/>
                  </a:lnSpc>
                </a:pPr>
                <a:endParaRPr lang="en-US" sz="2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l">
                  <a:lnSpc>
                    <a:spcPts val="2600"/>
                  </a:lnSpc>
                </a:pPr>
                <a:endParaRPr lang="en-US" sz="20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3349815"/>
                <a:ext cx="6521410" cy="1785123"/>
              </a:xfrm>
              <a:prstGeom prst="rect">
                <a:avLst/>
              </a:prstGeom>
              <a:blipFill>
                <a:blip r:embed="rId3"/>
                <a:stretch>
                  <a:fillRect l="-2336" t="-411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A66309-17FC-D955-6567-2BB46C7739CB}"/>
                  </a:ext>
                </a:extLst>
              </p:cNvPr>
              <p:cNvSpPr txBox="1"/>
              <p:nvPr/>
            </p:nvSpPr>
            <p:spPr>
              <a:xfrm>
                <a:off x="5888705" y="2470646"/>
                <a:ext cx="3656642" cy="625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acc>
                        <m:accPr>
                          <m:chr m:val="̃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𝑋𝑊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A66309-17FC-D955-6567-2BB46C773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705" y="2470646"/>
                <a:ext cx="3656642" cy="625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082F577-12FB-2D22-38AB-51527D7A5857}"/>
              </a:ext>
            </a:extLst>
          </p:cNvPr>
          <p:cNvSpPr txBox="1"/>
          <p:nvPr/>
        </p:nvSpPr>
        <p:spPr>
          <a:xfrm>
            <a:off x="7324776" y="3402920"/>
            <a:ext cx="654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>
                <a:solidFill>
                  <a:srgbClr val="FF0000"/>
                </a:solidFill>
              </a:rPr>
              <a:t>NOTE:</a:t>
            </a:r>
          </a:p>
          <a:p>
            <a:r>
              <a:rPr lang="en-IN"/>
              <a:t>This is the general formula of graph convolution in a GCN formulated by </a:t>
            </a:r>
            <a:r>
              <a:rPr lang="en-IN" b="1"/>
              <a:t>Kipf &amp; Welling (2016). </a:t>
            </a:r>
            <a:r>
              <a:rPr lang="en-IN"/>
              <a:t>Our reference paper used </a:t>
            </a:r>
            <a:r>
              <a:rPr lang="en-IN" b="1"/>
              <a:t>row normalization</a:t>
            </a:r>
            <a:r>
              <a:rPr lang="en-IN"/>
              <a:t>, but we chose to use </a:t>
            </a:r>
            <a:r>
              <a:rPr lang="en-IN" b="1"/>
              <a:t>symmetric normalization</a:t>
            </a:r>
            <a:r>
              <a:rPr lang="en-IN"/>
              <a:t> instead, since it is often </a:t>
            </a:r>
            <a:r>
              <a:rPr lang="en-IN" b="1"/>
              <a:t>recommended</a:t>
            </a:r>
            <a:r>
              <a:rPr lang="en-IN"/>
              <a:t> for stable training and better generalization.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AEC4FF-FC03-7440-5A02-904079D8176E}"/>
                  </a:ext>
                </a:extLst>
              </p:cNvPr>
              <p:cNvSpPr txBox="1"/>
              <p:nvPr/>
            </p:nvSpPr>
            <p:spPr>
              <a:xfrm>
                <a:off x="709990" y="5441795"/>
                <a:ext cx="1306197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Cascading from Previous Steps: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b="1">
                    <a:latin typeface="Segoe UI" panose="020B0502040204020203" pitchFamily="34" charset="0"/>
                    <a:cs typeface="Segoe UI" panose="020B0502040204020203" pitchFamily="34" charset="0"/>
                  </a:rPr>
                  <a:t>Node feature matrices</a:t>
                </a: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en-IN" b="1">
                    <a:latin typeface="Segoe UI" panose="020B0502040204020203" pitchFamily="34" charset="0"/>
                    <a:cs typeface="Segoe UI" panose="020B0502040204020203" pitchFamily="34" charset="0"/>
                  </a:rPr>
                  <a:t>adjacency matrices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b="1">
                    <a:latin typeface="Segoe UI" panose="020B0502040204020203" pitchFamily="34" charset="0"/>
                    <a:cs typeface="Segoe UI" panose="020B0502040204020203" pitchFamily="34" charset="0"/>
                  </a:rPr>
                  <a:t>)</a:t>
                </a: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were created in the </a:t>
                </a:r>
                <a:r>
                  <a:rPr lang="en-IN" b="1">
                    <a:latin typeface="Segoe UI" panose="020B0502040204020203" pitchFamily="34" charset="0"/>
                    <a:cs typeface="Segoe UI" panose="020B0502040204020203" pitchFamily="34" charset="0"/>
                  </a:rPr>
                  <a:t>data preprocessing and transformation</a:t>
                </a: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stage, and they were fit into the </a:t>
                </a:r>
                <a:r>
                  <a:rPr lang="en-IN" b="1">
                    <a:latin typeface="Segoe UI" panose="020B0502040204020203" pitchFamily="34" charset="0"/>
                    <a:cs typeface="Segoe UI" panose="020B0502040204020203" pitchFamily="34" charset="0"/>
                  </a:rPr>
                  <a:t>DGCNN</a:t>
                </a: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model as input.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The original reference paper’s</a:t>
                </a:r>
                <a:r>
                  <a:rPr lang="en-IN" baseline="30000">
                    <a:latin typeface="Segoe UI" panose="020B0502040204020203" pitchFamily="34" charset="0"/>
                    <a:cs typeface="Segoe UI" panose="020B0502040204020203" pitchFamily="34" charset="0"/>
                  </a:rPr>
                  <a:t>[1]</a:t>
                </a: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IN" b="1">
                    <a:latin typeface="Segoe UI" panose="020B0502040204020203" pitchFamily="34" charset="0"/>
                    <a:cs typeface="Segoe UI" panose="020B0502040204020203" pitchFamily="34" charset="0"/>
                  </a:rPr>
                  <a:t>Algorithm 2</a:t>
                </a:r>
                <a:r>
                  <a:rPr lang="en-IN">
                    <a:latin typeface="Segoe UI" panose="020B0502040204020203" pitchFamily="34" charset="0"/>
                    <a:cs typeface="Segoe UI" panose="020B0502040204020203" pitchFamily="34" charset="0"/>
                  </a:rPr>
                  <a:t> was directly implemented as code for this graph convolution layer and the larger model.</a:t>
                </a:r>
                <a:endParaRPr lang="en-US" b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AEC4FF-FC03-7440-5A02-904079D81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90" y="5441795"/>
                <a:ext cx="13061972" cy="1477328"/>
              </a:xfrm>
              <a:prstGeom prst="rect">
                <a:avLst/>
              </a:prstGeom>
              <a:blipFill>
                <a:blip r:embed="rId5"/>
                <a:stretch>
                  <a:fillRect l="-373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4C8E-4BA8-8179-6368-F496F5B8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 Convolution Algorithm</a:t>
            </a:r>
            <a:endParaRPr lang="en-US" sz="4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D5B4518-4EAE-4708-DA7B-D14A73380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368982"/>
                  </p:ext>
                </p:extLst>
              </p:nvPr>
            </p:nvGraphicFramePr>
            <p:xfrm>
              <a:off x="1005840" y="2028702"/>
              <a:ext cx="12618720" cy="4009327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053840">
                      <a:extLst>
                        <a:ext uri="{9D8B030D-6E8A-4147-A177-3AD203B41FA5}">
                          <a16:colId xmlns:a16="http://schemas.microsoft.com/office/drawing/2014/main" val="4045779464"/>
                        </a:ext>
                      </a:extLst>
                    </a:gridCol>
                    <a:gridCol w="8564880">
                      <a:extLst>
                        <a:ext uri="{9D8B030D-6E8A-4147-A177-3AD203B41FA5}">
                          <a16:colId xmlns:a16="http://schemas.microsoft.com/office/drawing/2014/main" val="25166429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Graph Convolution Algorithm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Comments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6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𝐼𝑛𝑝𝑢𝑡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𝐼𝑑𝑒𝑛𝑡𝑖𝑡𝑦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𝑠h𝑎𝑝𝑒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−1/2</m:t>
                                    </m:r>
                                  </m:sup>
                                </m:sSup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𝐷𝑖𝑎𝑔𝑜𝑛𝑎𝑙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𝑛𝑜𝑟𝑚</m:t>
                                    </m:r>
                                  </m:sub>
                                </m:sSub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p>
                                  <m:sSup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acc>
                                  <m:accPr>
                                    <m:chr m:val="̃"/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𝑛𝑜𝑟𝑚</m:t>
                                    </m:r>
                                  </m:sub>
                                </m:sSub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𝑋𝑊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Input the Adjacency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, Feature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, Weight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20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Create an Identity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 for self-loops of API calls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Augment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̃"/>
                                  <m:ctrlP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 the Adjacency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 with self-loops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Create a diagonal degree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̃"/>
                                  <m:ctrlP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 by summing each row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oMath>
                          </a14:m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 to get the degree of each</a:t>
                          </a:r>
                          <a:r>
                            <a:rPr lang="en-IN" sz="2000" baseline="0">
                              <a:solidFill>
                                <a:schemeClr val="tx1"/>
                              </a:solidFill>
                            </a:rPr>
                            <a:t> node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Create a diagonal matrix from the inverse square root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, this will be used in</a:t>
                          </a: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 the symmetric normalization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Calculate the normalized matrix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0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IN" sz="20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20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20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𝑛𝑜𝑟𝑚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 (Kipf &amp; Welling, 2016)</a:t>
                          </a:r>
                          <a:r>
                            <a:rPr lang="en-US" sz="2000" baseline="30000">
                              <a:solidFill>
                                <a:schemeClr val="tx1"/>
                              </a:solidFill>
                            </a:rPr>
                            <a:t>[2]</a:t>
                          </a:r>
                          <a:endParaRPr lang="en-US" sz="2000" baseline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Aggregate the features and apply weight transformation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Apply an activation function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 (ReLU) on the output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 for final aggregation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1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D5B4518-4EAE-4708-DA7B-D14A73380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368982"/>
                  </p:ext>
                </p:extLst>
              </p:nvPr>
            </p:nvGraphicFramePr>
            <p:xfrm>
              <a:off x="1005840" y="2028702"/>
              <a:ext cx="12618720" cy="4009327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053840">
                      <a:extLst>
                        <a:ext uri="{9D8B030D-6E8A-4147-A177-3AD203B41FA5}">
                          <a16:colId xmlns:a16="http://schemas.microsoft.com/office/drawing/2014/main" val="4045779464"/>
                        </a:ext>
                      </a:extLst>
                    </a:gridCol>
                    <a:gridCol w="8564880">
                      <a:extLst>
                        <a:ext uri="{9D8B030D-6E8A-4147-A177-3AD203B41FA5}">
                          <a16:colId xmlns:a16="http://schemas.microsoft.com/office/drawing/2014/main" val="251664299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Graph Convolution Algorithm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Comments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63899"/>
                      </a:ext>
                    </a:extLst>
                  </a:tr>
                  <a:tr h="3552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1" t="-14041" r="-211729" b="-20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7473" t="-14041" r="-214" b="-2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16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8C28DA3-5A6D-4EE2-AB77-800E52D47399}"/>
              </a:ext>
            </a:extLst>
          </p:cNvPr>
          <p:cNvSpPr txBox="1"/>
          <p:nvPr/>
        </p:nvSpPr>
        <p:spPr>
          <a:xfrm>
            <a:off x="888609" y="6038029"/>
            <a:ext cx="1109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References: 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Oliveira &amp; Sassi (2019)</a:t>
            </a:r>
            <a:r>
              <a:rPr lang="en-IN" baseline="30000">
                <a:latin typeface="Segoe UI" panose="020B0502040204020203" pitchFamily="34" charset="0"/>
                <a:cs typeface="Segoe UI" panose="020B0502040204020203" pitchFamily="34" charset="0"/>
              </a:rPr>
              <a:t>[1]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, Kipf &amp; Welling (2016)</a:t>
            </a:r>
            <a:r>
              <a:rPr lang="en-IN" baseline="30000">
                <a:latin typeface="Segoe UI" panose="020B0502040204020203" pitchFamily="34" charset="0"/>
                <a:cs typeface="Segoe UI" panose="020B0502040204020203" pitchFamily="34" charset="0"/>
              </a:rPr>
              <a:t>[2]</a:t>
            </a:r>
            <a:endParaRPr lang="en-US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9B7D5-D95B-7947-F839-12D41B035F32}"/>
              </a:ext>
            </a:extLst>
          </p:cNvPr>
          <p:cNvSpPr txBox="1"/>
          <p:nvPr/>
        </p:nvSpPr>
        <p:spPr>
          <a:xfrm>
            <a:off x="855785" y="6564812"/>
            <a:ext cx="12768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rgbClr val="FF0000"/>
                </a:solidFill>
              </a:rPr>
              <a:t>This algorithm has been implemented as the convolution layer in our DGCNN model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81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EB88B-BE82-8AC0-6478-FC4342BC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2C9E-D9CB-4A2A-00E1-D8B8F048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514350"/>
            <a:ext cx="12618720" cy="1590676"/>
          </a:xfrm>
        </p:spPr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Forward Propagation</a:t>
            </a:r>
            <a:endParaRPr lang="en-US" sz="4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F75532B-E24B-5D39-27D9-4EDF4F8C4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9684613"/>
                  </p:ext>
                </p:extLst>
              </p:nvPr>
            </p:nvGraphicFramePr>
            <p:xfrm>
              <a:off x="1005840" y="2028702"/>
              <a:ext cx="12618720" cy="298704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648200">
                      <a:extLst>
                        <a:ext uri="{9D8B030D-6E8A-4147-A177-3AD203B41FA5}">
                          <a16:colId xmlns:a16="http://schemas.microsoft.com/office/drawing/2014/main" val="4045779464"/>
                        </a:ext>
                      </a:extLst>
                    </a:gridCol>
                    <a:gridCol w="7970520">
                      <a:extLst>
                        <a:ext uri="{9D8B030D-6E8A-4147-A177-3AD203B41FA5}">
                          <a16:colId xmlns:a16="http://schemas.microsoft.com/office/drawing/2014/main" val="25166429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Layer Propagation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Comments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6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𝐺𝑟𝑎𝑝h𝐶𝑜𝑛𝑣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𝑐𝑜𝑛𝑣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𝑅𝑒𝐿𝑈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𝑑𝑟𝑜𝑝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𝐷𝑟𝑜𝑝𝑜𝑢𝑡</m:t>
                                </m:r>
                                <m:d>
                                  <m:dPr>
                                    <m:ctrlP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𝑟𝑎𝑡𝑒</m:t>
                                    </m:r>
                                    <m:r>
                                      <a:rPr lang="en-I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=0.60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0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𝐹𝑙𝑎𝑡𝑡𝑒𝑛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𝑑𝑟𝑜𝑝</m:t>
                                    </m:r>
                                  </m:sub>
                                </m:sSub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𝑑𝑒𝑛𝑠𝑒</m:t>
                                    </m:r>
                                  </m:sub>
                                </m:sSub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𝑅𝑒𝐿𝑈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𝐷𝑒𝑛𝑠𝑒</m:t>
                                </m:r>
                                <m:d>
                                  <m:d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𝑑𝑒𝑛𝑠𝑒</m:t>
                                        </m:r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𝐷𝑒𝑛𝑠𝑒</m:t>
                                </m:r>
                                <m:d>
                                  <m:dPr>
                                    <m:ctrlP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𝑑𝑒𝑛𝑠𝑒</m:t>
                                        </m:r>
                                      </m:sub>
                                    </m:sSub>
                                    <m:r>
                                      <a:rPr lang="en-I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I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𝑜𝑢𝑡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return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>
                              <a:solidFill>
                                <a:schemeClr val="tx1"/>
                              </a:solidFill>
                            </a:rPr>
                            <a:t>Pass </a:t>
                          </a:r>
                          <a14:m>
                            <m:oMath xmlns:m="http://schemas.openxmlformats.org/officeDocument/2006/math"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 to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𝐺𝑟𝑎𝑝h𝐶𝑜𝑛𝑣</m:t>
                              </m:r>
                              <m:r>
                                <a:rPr lang="en-I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algorithm from</a:t>
                          </a: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 the previous slide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Apply ReLU activation on the convolution output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Dropout nodes from the output with 60% probability to regularize 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Flatten the convoluted output into a single vector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Pass the flattened single vector output to the Dense layers in the classification head to return raw logits, apply ReLU (standard)</a:t>
                          </a:r>
                        </a:p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baseline="0">
                              <a:solidFill>
                                <a:schemeClr val="tx1"/>
                              </a:solidFill>
                            </a:rPr>
                            <a:t>Pass the output logits through the sigmoid activation to return a probability score between 0 and 1 (binary classification)</a:t>
                          </a:r>
                          <a:endParaRPr 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1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F75532B-E24B-5D39-27D9-4EDF4F8C4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9684613"/>
                  </p:ext>
                </p:extLst>
              </p:nvPr>
            </p:nvGraphicFramePr>
            <p:xfrm>
              <a:off x="1005840" y="2028702"/>
              <a:ext cx="12618720" cy="298704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648200">
                      <a:extLst>
                        <a:ext uri="{9D8B030D-6E8A-4147-A177-3AD203B41FA5}">
                          <a16:colId xmlns:a16="http://schemas.microsoft.com/office/drawing/2014/main" val="4045779464"/>
                        </a:ext>
                      </a:extLst>
                    </a:gridCol>
                    <a:gridCol w="7970520">
                      <a:extLst>
                        <a:ext uri="{9D8B030D-6E8A-4147-A177-3AD203B41FA5}">
                          <a16:colId xmlns:a16="http://schemas.microsoft.com/office/drawing/2014/main" val="251664299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Layer Propagation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b="1"/>
                            <a:t>Comments</a:t>
                          </a:r>
                          <a:endParaRPr lang="en-US" sz="24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63899"/>
                      </a:ext>
                    </a:extLst>
                  </a:tr>
                  <a:tr h="252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2" t="-19712" r="-171691" b="-43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8531" t="-19712" r="-230" b="-43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16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D572EB-34B8-D21A-C5FE-F2313ABAFA94}"/>
                  </a:ext>
                </a:extLst>
              </p:cNvPr>
              <p:cNvSpPr txBox="1"/>
              <p:nvPr/>
            </p:nvSpPr>
            <p:spPr>
              <a:xfrm>
                <a:off x="1005840" y="5562600"/>
                <a:ext cx="1261872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/>
                  <a:t>It is assumed that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/>
                  <a:t> is transposed to be compatible for matrix multiplication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307×100</m:t>
                    </m:r>
                  </m:oMath>
                </a14:m>
                <a:r>
                  <a:rPr lang="en-US" sz="240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/>
                  <a:t>A dropout layer is implemented to aggressively prevent overfitting since the model is dense with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b="1"/>
                  <a:t>1.2 Million</a:t>
                </a:r>
                <a:r>
                  <a:rPr lang="en-US" sz="2400"/>
                  <a:t> learnable parameters, hence the high dropout rate of </a:t>
                </a:r>
                <a:r>
                  <a:rPr lang="en-US" sz="2400" b="1"/>
                  <a:t>60%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/>
                  <a:t>On a high level, the model contains 4 layers – the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𝐺𝑟𝑎𝑝h𝐶𝑜𝑛𝑣</m:t>
                    </m:r>
                  </m:oMath>
                </a14:m>
                <a:r>
                  <a:rPr lang="en-US" sz="2400"/>
                  <a:t>, the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𝐹𝑙𝑎𝑡𝑡𝑒𝑛</m:t>
                    </m:r>
                  </m:oMath>
                </a14:m>
                <a:r>
                  <a:rPr lang="en-US" sz="2400"/>
                  <a:t>, one hidden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𝐷𝑒𝑛𝑠𝑒</m:t>
                    </m:r>
                  </m:oMath>
                </a14:m>
                <a:r>
                  <a:rPr lang="en-US" sz="2400"/>
                  <a:t> and another 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𝐷𝑒𝑛𝑠𝑒</m:t>
                    </m:r>
                  </m:oMath>
                </a14:m>
                <a:r>
                  <a:rPr lang="en-US" sz="2400"/>
                  <a:t> layer (that make the classifier head).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b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D572EB-34B8-D21A-C5FE-F2313ABAF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5562600"/>
                <a:ext cx="12618720" cy="2308324"/>
              </a:xfrm>
              <a:prstGeom prst="rect">
                <a:avLst/>
              </a:prstGeom>
              <a:blipFill>
                <a:blip r:embed="rId3"/>
                <a:stretch>
                  <a:fillRect l="-628" t="-2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327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816C-3B43-A763-2414-E3B2C5D3E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BF76-A0EA-4AC7-930B-104521F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DGCNN Evaluation on Experiment 1</a:t>
            </a:r>
            <a:endParaRPr lang="en-US" sz="4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D061FB-B8C1-C69D-3928-318D5587E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700667"/>
              </p:ext>
            </p:extLst>
          </p:nvPr>
        </p:nvGraphicFramePr>
        <p:xfrm>
          <a:off x="7376160" y="1805104"/>
          <a:ext cx="62484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87611186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28527230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42813641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</a:rPr>
                        <a:t>Balanced Dataset (Experiment 1)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45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tx1"/>
                          </a:solidFill>
                        </a:rPr>
                        <a:t>Metric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tx1"/>
                          </a:solidFill>
                        </a:rPr>
                        <a:t>Our Implementation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tx1"/>
                          </a:solidFill>
                        </a:rPr>
                        <a:t>Paper’s Baseline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52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0.930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0.910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42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AUC-ROC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0.966 (best)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0.968 (best)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7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0.930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0.887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6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0.930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0.928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36492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33E0C8E-9C26-ECCE-A9BC-884E3B810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40" y="4824650"/>
            <a:ext cx="6370320" cy="28773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157947-06BB-DE37-00C4-894C57286D7B}"/>
              </a:ext>
            </a:extLst>
          </p:cNvPr>
          <p:cNvSpPr txBox="1"/>
          <p:nvPr/>
        </p:nvSpPr>
        <p:spPr>
          <a:xfrm>
            <a:off x="1005840" y="1805104"/>
            <a:ext cx="624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Our baseline </a:t>
            </a:r>
            <a:r>
              <a:rPr lang="en-IN" b="1"/>
              <a:t>DGCNN</a:t>
            </a:r>
            <a:r>
              <a:rPr lang="en-IN"/>
              <a:t> model</a:t>
            </a:r>
            <a:r>
              <a:rPr lang="en-IN" b="1"/>
              <a:t> </a:t>
            </a:r>
            <a:r>
              <a:rPr lang="en-IN"/>
              <a:t>reaches comparable, if not better performance than the reference paper’s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It correctly recalls </a:t>
            </a:r>
            <a:r>
              <a:rPr lang="en-IN" b="1"/>
              <a:t>93.5% of Goodware (200/214), </a:t>
            </a:r>
            <a:r>
              <a:rPr lang="en-IN"/>
              <a:t>and </a:t>
            </a:r>
            <a:r>
              <a:rPr lang="en-IN" b="1"/>
              <a:t>92.7%</a:t>
            </a:r>
            <a:r>
              <a:rPr lang="en-IN"/>
              <a:t> </a:t>
            </a:r>
            <a:r>
              <a:rPr lang="en-IN" b="1"/>
              <a:t>of Malware (202/218). It achieves an overall F1-score of 93%</a:t>
            </a:r>
            <a:r>
              <a:rPr lang="en-IN"/>
              <a:t> on the validation dataset of </a:t>
            </a:r>
            <a:r>
              <a:rPr lang="en-IN" b="1"/>
              <a:t>432 samples</a:t>
            </a:r>
            <a:r>
              <a:rPr lang="en-IN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An </a:t>
            </a:r>
            <a:r>
              <a:rPr lang="en-IN" b="1"/>
              <a:t>AUC-ROC </a:t>
            </a:r>
            <a:r>
              <a:rPr lang="en-IN"/>
              <a:t>score of </a:t>
            </a:r>
            <a:r>
              <a:rPr lang="en-IN" b="1"/>
              <a:t>0.98</a:t>
            </a:r>
            <a:r>
              <a:rPr lang="en-IN"/>
              <a:t> is achieved, indicating </a:t>
            </a:r>
            <a:r>
              <a:rPr lang="en-IN" b="1"/>
              <a:t>great</a:t>
            </a:r>
            <a:r>
              <a:rPr lang="en-IN"/>
              <a:t> classification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Some</a:t>
            </a:r>
            <a:r>
              <a:rPr lang="en-IN" b="1"/>
              <a:t> mild </a:t>
            </a:r>
            <a:r>
              <a:rPr lang="en-IN"/>
              <a:t>overfitting tendencies can be noted in the training history around </a:t>
            </a:r>
            <a:r>
              <a:rPr lang="en-IN" b="1"/>
              <a:t>epoch 6</a:t>
            </a:r>
            <a:r>
              <a:rPr lang="en-IN"/>
              <a:t>, but that is prevented from inflating further through </a:t>
            </a:r>
            <a:r>
              <a:rPr lang="en-IN" b="1"/>
              <a:t>early-stopping</a:t>
            </a:r>
            <a:r>
              <a:rPr lang="en-IN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70D629-3A46-46D1-93FF-DF0F8EEF4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1" y="4824651"/>
            <a:ext cx="6248400" cy="287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55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C204-EA15-068A-6BD0-99CF22D4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D9F7-0B8C-B97E-14F9-4B3E50D7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DGCNN Evaluation on Experiment 2</a:t>
            </a:r>
            <a:endParaRPr lang="en-US" sz="4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11FD38-12E3-BD7B-0DC5-C798DCAC9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04816"/>
              </p:ext>
            </p:extLst>
          </p:nvPr>
        </p:nvGraphicFramePr>
        <p:xfrm>
          <a:off x="7376160" y="1805104"/>
          <a:ext cx="624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87611186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28527230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42813641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</a:rPr>
                        <a:t>Imbalanced Dataset (Experiment 2)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45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tx1"/>
                          </a:solidFill>
                        </a:rPr>
                        <a:t>Metric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tx1"/>
                          </a:solidFill>
                        </a:rPr>
                        <a:t>Our Implementation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tx1"/>
                          </a:solidFill>
                        </a:rPr>
                        <a:t>Paper’s Baseline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52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AUC-ROC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0.983 (best)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0.968 (best)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7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F1-Score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0.890 </a:t>
                      </a:r>
                      <a:r>
                        <a:rPr lang="en-IN" sz="1800">
                          <a:solidFill>
                            <a:schemeClr val="tx1"/>
                          </a:solidFill>
                        </a:rPr>
                        <a:t>(macro-avg)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0.994 </a:t>
                      </a:r>
                      <a:r>
                        <a:rPr lang="en-IN" sz="1800">
                          <a:solidFill>
                            <a:schemeClr val="tx1"/>
                          </a:solidFill>
                        </a:rPr>
                        <a:t>(overall)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6408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02E9A94-BD67-F0AA-69FD-0D47F875C72E}"/>
              </a:ext>
            </a:extLst>
          </p:cNvPr>
          <p:cNvSpPr txBox="1"/>
          <p:nvPr/>
        </p:nvSpPr>
        <p:spPr>
          <a:xfrm>
            <a:off x="1066800" y="1805104"/>
            <a:ext cx="624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Our model achieves an </a:t>
            </a:r>
            <a:r>
              <a:rPr lang="en-IN" b="1"/>
              <a:t>ROC-AUC</a:t>
            </a:r>
            <a:r>
              <a:rPr lang="en-IN"/>
              <a:t> of 0.983, but this cannot be relied on since it happens to be inflated for highly imbalanced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We report our </a:t>
            </a:r>
            <a:r>
              <a:rPr lang="en-IN" b="1"/>
              <a:t>macro-average F1-score</a:t>
            </a:r>
            <a:r>
              <a:rPr lang="en-IN"/>
              <a:t> to be </a:t>
            </a:r>
            <a:r>
              <a:rPr lang="en-IN" b="1"/>
              <a:t>0.890, </a:t>
            </a:r>
            <a:r>
              <a:rPr lang="en-IN"/>
              <a:t>which is a more balanced measure of performance than the paper’s reported overall F1-score of </a:t>
            </a:r>
            <a:r>
              <a:rPr lang="en-IN" b="1"/>
              <a:t>0.994.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Despite the </a:t>
            </a:r>
            <a:r>
              <a:rPr lang="en-IN" b="1"/>
              <a:t>40:1</a:t>
            </a:r>
            <a:r>
              <a:rPr lang="en-IN"/>
              <a:t> imbalance, we report a </a:t>
            </a:r>
            <a:r>
              <a:rPr lang="en-IN" b="1"/>
              <a:t>fairly</a:t>
            </a:r>
            <a:r>
              <a:rPr lang="en-IN"/>
              <a:t> robust generalization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79EA2-280B-95FE-BAAA-31BC0F95A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501" y="4413455"/>
            <a:ext cx="6475059" cy="2852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27A8AF-5A3B-3028-D712-35F560DF7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412817"/>
            <a:ext cx="6082701" cy="28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42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0F53-1198-A6D4-E907-21876451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Working Demo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AFDCA-1526-7D3D-1B19-54C03C43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190750"/>
            <a:ext cx="5031545" cy="5221606"/>
          </a:xfrm>
        </p:spPr>
        <p:txBody>
          <a:bodyPr>
            <a:normAutofit/>
          </a:bodyPr>
          <a:lstStyle/>
          <a:p>
            <a:r>
              <a:rPr lang="en-IN" sz="2400">
                <a:latin typeface="Segoe UI" panose="020B0502040204020203" pitchFamily="34" charset="0"/>
                <a:cs typeface="Segoe UI" panose="020B0502040204020203" pitchFamily="34" charset="0"/>
              </a:rPr>
              <a:t>For safety purposes, we can’t actually download malicious .exe files (they’re not easily available too)</a:t>
            </a:r>
          </a:p>
          <a:p>
            <a:r>
              <a:rPr lang="en-IN" sz="2400">
                <a:latin typeface="Segoe UI" panose="020B0502040204020203" pitchFamily="34" charset="0"/>
                <a:cs typeface="Segoe UI" panose="020B0502040204020203" pitchFamily="34" charset="0"/>
              </a:rPr>
              <a:t>Instead, we decided to simulate a working demo of the model using .txt files that contain a sequence of Windows API calls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– that would otherwise be obtained in a sandboxed environment</a:t>
            </a:r>
          </a:p>
          <a:p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To demonstrate, we take a few samples from our validation data and upload it to the model’s interface for prediction</a:t>
            </a:r>
          </a:p>
        </p:txBody>
      </p:sp>
      <p:pic>
        <p:nvPicPr>
          <p:cNvPr id="4" name="Untitled video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5FE86AF8-D6D8-7DB0-A36B-A86975FBB2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39902" y="1982482"/>
            <a:ext cx="7581573" cy="426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3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2539" y="697348"/>
            <a:ext cx="7204316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IN" sz="4000" b="1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Phase II:</a:t>
            </a:r>
            <a:r>
              <a:rPr lang="en-IN" sz="4000">
                <a:solidFill>
                  <a:srgbClr val="FF0000"/>
                </a:solidFill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 </a:t>
            </a:r>
            <a:r>
              <a:rPr lang="en-IN" sz="4000">
                <a:latin typeface="Segoe UI" panose="020B0502040204020203" pitchFamily="34" charset="0"/>
                <a:ea typeface="Geist" panose="020B0604020202020204" charset="0"/>
                <a:cs typeface="Segoe UI" panose="020B0502040204020203" pitchFamily="34" charset="0"/>
              </a:rPr>
              <a:t>Planned GAN Approach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902539" y="3012072"/>
            <a:ext cx="26935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01 | Generator </a:t>
            </a:r>
            <a:r>
              <a:rPr lang="en-US" sz="21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Training</a:t>
            </a:r>
            <a:endParaRPr lang="en-US" sz="21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902539" y="3466518"/>
            <a:ext cx="6263640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Learn the distribution </a:t>
            </a: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of normal API call sequences 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from the 1,079 benign </a:t>
            </a: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samples only, producing realistic 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goodware sequence samples.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6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902539" y="4397051"/>
            <a:ext cx="299382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02 | Discriminator </a:t>
            </a:r>
            <a:r>
              <a:rPr lang="en-US" sz="21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Learning</a:t>
            </a:r>
            <a:endParaRPr lang="en-US" sz="21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902539" y="4781003"/>
            <a:ext cx="6263640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Distinguish between real goodware sequences and 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generator-produced fakes/anomalies, learning the actual distribution of goodware.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6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902539" y="5730364"/>
            <a:ext cx="26935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03 | Anomaly </a:t>
            </a:r>
            <a:r>
              <a:rPr lang="en-US" sz="2100" b="1" dirty="0">
                <a:solidFill>
                  <a:srgbClr val="FF000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Detection</a:t>
            </a:r>
            <a:endParaRPr lang="en-US" sz="21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02539" y="6113929"/>
            <a:ext cx="6263640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Use the trained </a:t>
            </a: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discriminator to score new 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sequences - with </a:t>
            </a: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high </a:t>
            </a:r>
            <a:r>
              <a:rPr lang="en-US" sz="165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scores for </a:t>
            </a:r>
            <a:r>
              <a:rPr lang="en-US" sz="16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normal, low scores flag malware anomalies.</a:t>
            </a:r>
            <a:endParaRPr lang="en-US" sz="16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C8D472-238E-3640-7D50-2C718F8ADC7A}"/>
              </a:ext>
            </a:extLst>
          </p:cNvPr>
          <p:cNvSpPr txBox="1"/>
          <p:nvPr/>
        </p:nvSpPr>
        <p:spPr>
          <a:xfrm>
            <a:off x="793790" y="1502076"/>
            <a:ext cx="72043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With a robust baseline DGCNN implemented in </a:t>
            </a:r>
            <a:r>
              <a:rPr lang="en-IN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I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, for the next section of our project - we plan to develop our proposed </a:t>
            </a:r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GAN (Generative Adversarial Network)</a:t>
            </a:r>
            <a:r>
              <a:rPr lang="en-IN">
                <a:latin typeface="Segoe UI" panose="020B0502040204020203" pitchFamily="34" charset="0"/>
                <a:cs typeface="Segoe UI" panose="020B0502040204020203" pitchFamily="34" charset="0"/>
              </a:rPr>
              <a:t> model for analyzing malware as an anomaly detection task deviating from normal API sequence call behavior.</a:t>
            </a:r>
          </a:p>
          <a:p>
            <a:endParaRPr lang="en-US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6513"/>
            <a:ext cx="4820007" cy="626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IN" sz="44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 Objectives &amp; Impact</a:t>
            </a:r>
            <a:endParaRPr lang="en-US" sz="4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218731"/>
            <a:ext cx="3681770" cy="1720224"/>
          </a:xfrm>
          <a:prstGeom prst="roundRect">
            <a:avLst>
              <a:gd name="adj" fmla="val 3075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957025" y="2405420"/>
            <a:ext cx="240994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IN" sz="1850" b="1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</a:t>
            </a:r>
            <a:r>
              <a:rPr lang="en-US" sz="1850" b="1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alware as Anomaly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957025" y="2738831"/>
            <a:ext cx="3250525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IN" sz="15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</a:t>
            </a:r>
            <a:r>
              <a:rPr lang="en-US" sz="15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tudy if treating </a:t>
            </a:r>
            <a:r>
              <a:rPr lang="en-US" sz="1500" b="1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malware</a:t>
            </a:r>
            <a:r>
              <a:rPr lang="en-US" sz="15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as anomalous from normal behaviour is effective for dynamic analysis based solutions that have been deployed.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4668322" y="2218731"/>
            <a:ext cx="3681889" cy="1720224"/>
          </a:xfrm>
          <a:prstGeom prst="roundRect">
            <a:avLst>
              <a:gd name="adj" fmla="val 3075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4870490" y="2405420"/>
            <a:ext cx="2592943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Paradigm Comparison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4870490" y="2738831"/>
            <a:ext cx="3250644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IN" sz="15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</a:t>
            </a:r>
            <a:r>
              <a:rPr lang="en-US" sz="15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erform a comprehensive comparison between the established graph-based approach and a new way of analyzing malware (i.e. the GAN)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793791" y="4125644"/>
            <a:ext cx="3681770" cy="1881783"/>
          </a:xfrm>
          <a:prstGeom prst="roundRect">
            <a:avLst>
              <a:gd name="adj" fmla="val 4303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957025" y="4235351"/>
            <a:ext cx="240994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Future Research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90FF7A5-5D58-BAA4-23A2-23328B1A2EB8}"/>
              </a:ext>
            </a:extLst>
          </p:cNvPr>
          <p:cNvSpPr/>
          <p:nvPr/>
        </p:nvSpPr>
        <p:spPr>
          <a:xfrm>
            <a:off x="957025" y="4567681"/>
            <a:ext cx="3250525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IN" sz="150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Fuel future research for the comparison of traditional malware analysis approaches with new, dynamic anomaly-based detection ones. 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2A21CBD3-833C-032D-FA24-290CDB298B56}"/>
              </a:ext>
            </a:extLst>
          </p:cNvPr>
          <p:cNvSpPr/>
          <p:nvPr/>
        </p:nvSpPr>
        <p:spPr>
          <a:xfrm>
            <a:off x="4668322" y="4127833"/>
            <a:ext cx="3681889" cy="1879594"/>
          </a:xfrm>
          <a:prstGeom prst="roundRect">
            <a:avLst>
              <a:gd name="adj" fmla="val 3075"/>
            </a:avLst>
          </a:prstGeom>
          <a:solidFill>
            <a:srgbClr val="101620"/>
          </a:solidFill>
          <a:ln w="22860">
            <a:solidFill>
              <a:srgbClr val="FF0000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D7F36D96-EB6F-2A98-0B99-057BAC4DD207}"/>
              </a:ext>
            </a:extLst>
          </p:cNvPr>
          <p:cNvSpPr/>
          <p:nvPr/>
        </p:nvSpPr>
        <p:spPr>
          <a:xfrm>
            <a:off x="4870490" y="4235351"/>
            <a:ext cx="2592943" cy="342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IN" sz="1850" b="1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</a:t>
            </a:r>
            <a:r>
              <a:rPr lang="en-US" sz="1850" b="1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pplications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21133B1-5625-C265-854E-9CEB15EBD648}"/>
              </a:ext>
            </a:extLst>
          </p:cNvPr>
          <p:cNvSpPr/>
          <p:nvPr/>
        </p:nvSpPr>
        <p:spPr>
          <a:xfrm>
            <a:off x="4870490" y="4567681"/>
            <a:ext cx="3250644" cy="1094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50"/>
              </a:lnSpc>
            </a:pPr>
            <a:r>
              <a:rPr lang="en-IN" sz="1500">
                <a:latin typeface="Segoe UI" panose="020B0502040204020203" pitchFamily="34" charset="0"/>
                <a:cs typeface="Segoe UI" panose="020B0502040204020203" pitchFamily="34" charset="0"/>
              </a:rPr>
              <a:t>Deploy the GAN-based anomaly detector in real-world environments like SOCs or cloud-based scanner tools, powering Next-Gen Antivirus Engines (N-GAVs).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7454B-17D9-CBE3-3BB6-393A7553E21C}"/>
              </a:ext>
            </a:extLst>
          </p:cNvPr>
          <p:cNvSpPr txBox="1"/>
          <p:nvPr/>
        </p:nvSpPr>
        <p:spPr>
          <a:xfrm>
            <a:off x="3083169" y="3210800"/>
            <a:ext cx="84640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lang="en-US" sz="660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618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1095</TotalTime>
  <Words>2834</Words>
  <Application>Microsoft Office PowerPoint</Application>
  <PresentationFormat>Custom</PresentationFormat>
  <Paragraphs>349</Paragraphs>
  <Slides>24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Geist</vt:lpstr>
      <vt:lpstr>Segoe UI</vt:lpstr>
      <vt:lpstr>Office Theme</vt:lpstr>
      <vt:lpstr>PowerPoint Presentation</vt:lpstr>
      <vt:lpstr>PowerPoint Presentation</vt:lpstr>
      <vt:lpstr>Existing Methods – Traditional Static Analysis Image Translation &amp; CNN-based Classification</vt:lpstr>
      <vt:lpstr>PowerPoint Presentation</vt:lpstr>
      <vt:lpstr>Existing Methods – Dynamic Analysis Deep Learning Models</vt:lpstr>
      <vt:lpstr>Motivation </vt:lpstr>
      <vt:lpstr>Project Abstract</vt:lpstr>
      <vt:lpstr>PowerPoint Presentation</vt:lpstr>
      <vt:lpstr>Before We Begin…</vt:lpstr>
      <vt:lpstr>Phase I: Baseline DGCNN Implementation</vt:lpstr>
      <vt:lpstr>PowerPoint Presentation</vt:lpstr>
      <vt:lpstr>PowerPoint Presentation</vt:lpstr>
      <vt:lpstr>PowerPoint Presentation</vt:lpstr>
      <vt:lpstr>Data Transformation Steps</vt:lpstr>
      <vt:lpstr>DGCNN (Model-1) Implementation</vt:lpstr>
      <vt:lpstr>PowerPoint Presentation</vt:lpstr>
      <vt:lpstr>Graph Convolution Algorithm</vt:lpstr>
      <vt:lpstr>Forward Propagation</vt:lpstr>
      <vt:lpstr>DGCNN Evaluation on Experiment 1</vt:lpstr>
      <vt:lpstr>DGCNN Evaluation on Experiment 2</vt:lpstr>
      <vt:lpstr>Working Demo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ameya srivastava</dc:creator>
  <cp:lastModifiedBy>ameya srivastava</cp:lastModifiedBy>
  <cp:revision>529</cp:revision>
  <cp:lastPrinted>2025-09-29T19:29:44Z</cp:lastPrinted>
  <dcterms:created xsi:type="dcterms:W3CDTF">2025-09-27T05:10:16Z</dcterms:created>
  <dcterms:modified xsi:type="dcterms:W3CDTF">2025-09-30T06:35:31Z</dcterms:modified>
</cp:coreProperties>
</file>